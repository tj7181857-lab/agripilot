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evaluators, good morning. We are Group 13 from TY_C, presenting our Engineering Design &amp; Innovation mid-semester review on our project titled 'AgriPilot – AI-Powered Multilingual Crop Health &amp; Farm Advisory System'.</a:t>
            </a:r>
          </a:p>
          <a:p/>
          <a:p>
            <a:r>
              <a:t>Our team consists of Tushar Jadhav, Varad Jadhav, Sahil Jagtap, and Shivaji Jamadar. In this presentation, we will demonstrate our machine learning pipelines for crop recommendation and leaf disease detection, explain our Grad-CAM interpretability integration, present our authentic mid-sem evaluation results, and share our roadmap for the final semester.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articulate the practical problem. In Indian agriculture, smallholder farmers often make cropping decisions based on habit or intuition because interpreting chemical soil reports is difficult. When foliar diseases appear, plant pathologists are rarely available immediately. Additionally, generic online advice fails because it is predominantly in English and doesn't preserve the farmer's past seasonal history. Our project addresses these interconnected challenges using a unified ML decision-support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divided our objectives into machine learning objectives and application objectives. On the ML side, we focus on training, evaluating, and explaining our crop recommendation and disease detection models using Grad-CAM. On the application side, we ensure each farmer only sees their own private history in their preferred language—English, Hindi, or Marathi—and give analysts a portal to audit saved model artifacts.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outlines our system architecture. A farmer registers, sets up their farm profile, and can choose either crop recommendation or the leaf scanner. The crop model processes tabular features, while the disease model classifies the leaf image and generates a Grad-CAM heatmap. All results are saved to SQLite under that farmer's ID. On the right, analysts have a separate login where they inspect project-level statistics and saved evaluation artifacts without interfering with farmer operations.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describe our datasets and features. For crop recommendation, we use seven soil and environmental inputs: Nitrogen, Phosphorus, Potassium, Temperature, Humidity, Soil pH, and Rainfall to predict the crop. For disease classification, we use 224x224 leaf images across eleven classes in Grape, Potato, and Tomato. We emphasize that our model's disease detection is bounded by these classes, and expanding coverage is planned for end-sem.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our ML methodology. On the left, we preprocess the tabular features and benchmark Decision Tree, Random Forest, and Gradient Boosting. We save the trained model so the web application uses pre-computed weights instead of retraining on every request. On the right, our image pipeline uses MobileNetV2 for disease prediction. Importantly, we pass the gradients back to the final convolutional layer to generate a Grad-CAM heatmap, which shows exactly which spots on the leaf caused the disease detection.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actual evaluation results. For disease classification, MobileNetV2 achieved 58 correct predictions out of 66 held-out test images, giving 87.88% accuracy and 87.97% macro F1. We emphasize that this is evaluated on a held-out test split, not guaranteed on arbitrary outdoor photos. For crop recommendation, Random Forest achieved 99.55% accuracy and F1 score, outperforming Decision Tree and Gradient Boosting while maintaining low latency. All values shown are from our actual saved project artifacts.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farmer workflow. A new farmer registers, selects their language—English, Hindi, or Marathi—and configures their farm details. A returning farmer logs in directly and sees their existing farm records. A key design principle is that all prediction history is strictly linked to that authenticated farmer. Furthermore, we never invent soil values if a farmer doesn't know them; we provide transparent advice instead of guessing chemical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an honest mid-semester evaluation, we highlight our current developmental constraints. First, our disease model is restricted to eleven classes across three crops. Second, benchmark performance does not automatically guarantee field performance under direct sun or blur. Third, uploading a non-leaf photo currently forces a prediction rather than throwing a clean error. Fourth, farmers without soil reports must enter values manually. These points define our concrete engineering agenda for the final semester.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roadmap outlines ten specific improvements for the final semester. These include adding field image augmentations, unknown-image detection, soil-report OCR, an expanded regional knowledge base, and testing with local farmers in Maharashtra. In summary, our core ML pipelines and application integration are working today, with a clear engineering path toward end-sem completion. Thank you, and we welcome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10728655" cy="6126480"/>
          </a:xfrm>
          <a:prstGeom prst="roundRect">
            <a:avLst/>
          </a:prstGeom>
          <a:solidFill>
            <a:srgbClr val="FFFFFF"/>
          </a:solidFill>
          <a:ln w="1905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502920"/>
            <a:ext cx="9326880" cy="640080"/>
          </a:xfrm>
          <a:prstGeom prst="rect">
            <a:avLst/>
          </a:prstGeom>
          <a:noFill/>
        </p:spPr>
        <p:txBody>
          <a:bodyPr wrap="square">
            <a:spAutoFit/>
          </a:bodyPr>
          <a:lstStyle/>
          <a:p>
            <a:pPr>
              <a:defRPr sz="1500" b="1">
                <a:solidFill>
                  <a:srgbClr val="1B4332"/>
                </a:solidFill>
                <a:latin typeface="Segoe UI"/>
              </a:defRPr>
            </a:pPr>
            <a:r>
              <a:t>MID-SEM REVIEW: Engineering Design &amp; Innovation</a:t>
            </a:r>
          </a:p>
          <a:p>
            <a:pPr>
              <a:defRPr sz="1100">
                <a:solidFill>
                  <a:srgbClr val="475569"/>
                </a:solidFill>
                <a:latin typeface="Segoe UI"/>
              </a:defRPr>
            </a:pPr>
            <a:r>
              <a:t>Vishwakarma Institute of Technology, Pune (Department of Artificial Intelligence &amp; Data Science)</a:t>
            </a:r>
          </a:p>
        </p:txBody>
      </p:sp>
      <p:pic>
        <p:nvPicPr>
          <p:cNvPr id="4" name="Picture 3" descr="vit_logo.png"/>
          <p:cNvPicPr>
            <a:picLocks noChangeAspect="1"/>
          </p:cNvPicPr>
          <p:nvPr/>
        </p:nvPicPr>
        <p:blipFill>
          <a:blip r:embed="rId2"/>
          <a:stretch>
            <a:fillRect/>
          </a:stretch>
        </p:blipFill>
        <p:spPr>
          <a:xfrm>
            <a:off x="10789920" y="365760"/>
            <a:ext cx="777240" cy="1080553"/>
          </a:xfrm>
          <a:prstGeom prst="rect">
            <a:avLst/>
          </a:prstGeom>
        </p:spPr>
      </p:pic>
      <p:sp>
        <p:nvSpPr>
          <p:cNvPr id="5" name="Rounded Rectangle 4"/>
          <p:cNvSpPr/>
          <p:nvPr/>
        </p:nvSpPr>
        <p:spPr>
          <a:xfrm>
            <a:off x="1097280" y="1234440"/>
            <a:ext cx="9966960" cy="438912"/>
          </a:xfrm>
          <a:prstGeom prst="roundRect">
            <a:avLst/>
          </a:prstGeom>
          <a:solidFill>
            <a:srgbClr val="EAF5EE"/>
          </a:solidFill>
          <a:ln w="1270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B4332"/>
                </a:solidFill>
                <a:latin typeface="Segoe UI"/>
              </a:defRPr>
            </a:pPr>
            <a:r>
              <a:t>GROUP_NO-13        |        CLASS – TY_C        |        COURSE – BTech Artificial Intelligence &amp; Data Science</a:t>
            </a:r>
          </a:p>
        </p:txBody>
      </p:sp>
      <p:sp>
        <p:nvSpPr>
          <p:cNvPr id="6" name="TextBox 5"/>
          <p:cNvSpPr txBox="1"/>
          <p:nvPr/>
        </p:nvSpPr>
        <p:spPr>
          <a:xfrm>
            <a:off x="1097280" y="1783080"/>
            <a:ext cx="9966960" cy="1188720"/>
          </a:xfrm>
          <a:prstGeom prst="rect">
            <a:avLst/>
          </a:prstGeom>
          <a:noFill/>
        </p:spPr>
        <p:txBody>
          <a:bodyPr wrap="square">
            <a:spAutoFit/>
          </a:bodyPr>
          <a:lstStyle/>
          <a:p>
            <a:pPr algn="ctr">
              <a:defRPr sz="1200" b="1">
                <a:solidFill>
                  <a:srgbClr val="40916C"/>
                </a:solidFill>
                <a:latin typeface="Segoe UI"/>
              </a:defRPr>
            </a:pPr>
            <a:r>
              <a:t>PROJECT TITLE:</a:t>
            </a:r>
          </a:p>
          <a:p>
            <a:pPr algn="ctr">
              <a:defRPr sz="2200" b="1">
                <a:solidFill>
                  <a:srgbClr val="1B4332"/>
                </a:solidFill>
                <a:latin typeface="Segoe UI"/>
              </a:defRPr>
            </a:pPr>
            <a:r>
              <a:t>AgriPilot – AI-Powered Multilingual Crop Health &amp; Farm Advisory System</a:t>
            </a:r>
          </a:p>
          <a:p>
            <a:pPr algn="ctr">
              <a:defRPr sz="1250">
                <a:solidFill>
                  <a:srgbClr val="475569"/>
                </a:solidFill>
                <a:latin typeface="Segoe UI"/>
              </a:defRPr>
            </a:pPr>
            <a:r>
              <a:t>Machine Learning / Artificial Intelligence &amp; Data Science Project</a:t>
            </a:r>
          </a:p>
        </p:txBody>
      </p:sp>
      <p:graphicFrame>
        <p:nvGraphicFramePr>
          <p:cNvPr id="7" name="Table 6"/>
          <p:cNvGraphicFramePr>
            <a:graphicFrameLocks noGrp="1"/>
          </p:cNvGraphicFramePr>
          <p:nvPr/>
        </p:nvGraphicFramePr>
        <p:xfrm>
          <a:off x="2011680" y="3154680"/>
          <a:ext cx="8138160" cy="2103120"/>
        </p:xfrm>
        <a:graphic>
          <a:graphicData uri="http://schemas.openxmlformats.org/drawingml/2006/table">
            <a:tbl>
              <a:tblPr firstRow="1" bandRow="1">
                <a:tableStyleId>{5C22544A-7EE6-4342-B048-85BDC9FD1C3A}</a:tableStyleId>
              </a:tblPr>
              <a:tblGrid>
                <a:gridCol w="3931920"/>
                <a:gridCol w="1828800"/>
                <a:gridCol w="2377440"/>
              </a:tblGrid>
              <a:tr h="420624">
                <a:tc>
                  <a:txBody>
                    <a:bodyPr/>
                    <a:lstStyle/>
                    <a:p>
                      <a:pPr algn="ctr">
                        <a:defRPr sz="1200" b="1">
                          <a:solidFill>
                            <a:srgbClr val="FFFFFF"/>
                          </a:solidFill>
                          <a:latin typeface="Segoe UI"/>
                        </a:defRPr>
                      </a:pPr>
                      <a:r>
                        <a:t>Name</a:t>
                      </a:r>
                    </a:p>
                  </a:txBody>
                  <a:tcPr>
                    <a:solidFill>
                      <a:srgbClr val="1B4332"/>
                    </a:solidFill>
                  </a:tcPr>
                </a:tc>
                <a:tc>
                  <a:txBody>
                    <a:bodyPr/>
                    <a:lstStyle/>
                    <a:p>
                      <a:pPr algn="ctr">
                        <a:defRPr sz="1200" b="1">
                          <a:solidFill>
                            <a:srgbClr val="FFFFFF"/>
                          </a:solidFill>
                          <a:latin typeface="Segoe UI"/>
                        </a:defRPr>
                      </a:pPr>
                      <a:r>
                        <a:t>Roll No</a:t>
                      </a:r>
                    </a:p>
                  </a:txBody>
                  <a:tcPr>
                    <a:solidFill>
                      <a:srgbClr val="1B4332"/>
                    </a:solidFill>
                  </a:tcPr>
                </a:tc>
                <a:tc>
                  <a:txBody>
                    <a:bodyPr/>
                    <a:lstStyle/>
                    <a:p>
                      <a:pPr algn="ctr">
                        <a:defRPr sz="1200" b="1">
                          <a:solidFill>
                            <a:srgbClr val="FFFFFF"/>
                          </a:solidFill>
                          <a:latin typeface="Segoe UI"/>
                        </a:defRPr>
                      </a:pPr>
                      <a:r>
                        <a:t>PRN</a:t>
                      </a:r>
                    </a:p>
                  </a:txBody>
                  <a:tcPr>
                    <a:solidFill>
                      <a:srgbClr val="1B4332"/>
                    </a:solidFill>
                  </a:tcPr>
                </a:tc>
              </a:tr>
              <a:tr h="420624">
                <a:tc>
                  <a:txBody>
                    <a:bodyPr/>
                    <a:lstStyle/>
                    <a:p>
                      <a:pPr algn="l">
                        <a:defRPr sz="1150" b="1">
                          <a:solidFill>
                            <a:srgbClr val="1E293B"/>
                          </a:solidFill>
                          <a:latin typeface="Segoe UI"/>
                        </a:defRPr>
                      </a:pPr>
                      <a:r>
                        <a:t>Tushar Jadhav</a:t>
                      </a:r>
                    </a:p>
                  </a:txBody>
                  <a:tcPr>
                    <a:solidFill>
                      <a:srgbClr val="FFFFFF"/>
                    </a:solidFill>
                  </a:tcPr>
                </a:tc>
                <a:tc>
                  <a:txBody>
                    <a:bodyPr/>
                    <a:lstStyle/>
                    <a:p>
                      <a:pPr algn="ctr">
                        <a:defRPr sz="1150" b="0">
                          <a:solidFill>
                            <a:srgbClr val="1E293B"/>
                          </a:solidFill>
                          <a:latin typeface="Segoe UI"/>
                        </a:defRPr>
                      </a:pPr>
                      <a:r>
                        <a:t>01</a:t>
                      </a:r>
                    </a:p>
                  </a:txBody>
                  <a:tcPr>
                    <a:solidFill>
                      <a:srgbClr val="FFFFFF"/>
                    </a:solidFill>
                  </a:tcPr>
                </a:tc>
                <a:tc>
                  <a:txBody>
                    <a:bodyPr/>
                    <a:lstStyle/>
                    <a:p>
                      <a:pPr algn="ctr">
                        <a:defRPr sz="1150" b="0">
                          <a:solidFill>
                            <a:srgbClr val="1E293B"/>
                          </a:solidFill>
                          <a:latin typeface="Segoe UI"/>
                        </a:defRPr>
                      </a:pPr>
                      <a:r>
                        <a:t>12410740</a:t>
                      </a:r>
                    </a:p>
                  </a:txBody>
                  <a:tcPr>
                    <a:solidFill>
                      <a:srgbClr val="FFFFFF"/>
                    </a:solidFill>
                  </a:tcPr>
                </a:tc>
              </a:tr>
              <a:tr h="420624">
                <a:tc>
                  <a:txBody>
                    <a:bodyPr/>
                    <a:lstStyle/>
                    <a:p>
                      <a:pPr algn="l">
                        <a:defRPr sz="1150" b="1">
                          <a:solidFill>
                            <a:srgbClr val="1E293B"/>
                          </a:solidFill>
                          <a:latin typeface="Segoe UI"/>
                        </a:defRPr>
                      </a:pPr>
                      <a:r>
                        <a:t>Varad Jadhav</a:t>
                      </a:r>
                    </a:p>
                  </a:txBody>
                  <a:tcPr>
                    <a:solidFill>
                      <a:srgbClr val="F4F7F4"/>
                    </a:solidFill>
                  </a:tcPr>
                </a:tc>
                <a:tc>
                  <a:txBody>
                    <a:bodyPr/>
                    <a:lstStyle/>
                    <a:p>
                      <a:pPr algn="ctr">
                        <a:defRPr sz="1150" b="0">
                          <a:solidFill>
                            <a:srgbClr val="1E293B"/>
                          </a:solidFill>
                          <a:latin typeface="Segoe UI"/>
                        </a:defRPr>
                      </a:pPr>
                      <a:r>
                        <a:t>02</a:t>
                      </a:r>
                    </a:p>
                  </a:txBody>
                  <a:tcPr>
                    <a:solidFill>
                      <a:srgbClr val="F4F7F4"/>
                    </a:solidFill>
                  </a:tcPr>
                </a:tc>
                <a:tc>
                  <a:txBody>
                    <a:bodyPr/>
                    <a:lstStyle/>
                    <a:p>
                      <a:pPr algn="ctr">
                        <a:defRPr sz="1150" b="0">
                          <a:solidFill>
                            <a:srgbClr val="1E293B"/>
                          </a:solidFill>
                          <a:latin typeface="Segoe UI"/>
                        </a:defRPr>
                      </a:pPr>
                      <a:r>
                        <a:t>12411400</a:t>
                      </a:r>
                    </a:p>
                  </a:txBody>
                  <a:tcPr>
                    <a:solidFill>
                      <a:srgbClr val="F4F7F4"/>
                    </a:solidFill>
                  </a:tcPr>
                </a:tc>
              </a:tr>
              <a:tr h="420624">
                <a:tc>
                  <a:txBody>
                    <a:bodyPr/>
                    <a:lstStyle/>
                    <a:p>
                      <a:pPr algn="l">
                        <a:defRPr sz="1150" b="1">
                          <a:solidFill>
                            <a:srgbClr val="1E293B"/>
                          </a:solidFill>
                          <a:latin typeface="Segoe UI"/>
                        </a:defRPr>
                      </a:pPr>
                      <a:r>
                        <a:t>Sahil Jagtap</a:t>
                      </a:r>
                    </a:p>
                  </a:txBody>
                  <a:tcPr>
                    <a:solidFill>
                      <a:srgbClr val="FFFFFF"/>
                    </a:solidFill>
                  </a:tcPr>
                </a:tc>
                <a:tc>
                  <a:txBody>
                    <a:bodyPr/>
                    <a:lstStyle/>
                    <a:p>
                      <a:pPr algn="ctr">
                        <a:defRPr sz="1150" b="0">
                          <a:solidFill>
                            <a:srgbClr val="1E293B"/>
                          </a:solidFill>
                          <a:latin typeface="Segoe UI"/>
                        </a:defRPr>
                      </a:pPr>
                      <a:r>
                        <a:t>07</a:t>
                      </a:r>
                    </a:p>
                  </a:txBody>
                  <a:tcPr>
                    <a:solidFill>
                      <a:srgbClr val="FFFFFF"/>
                    </a:solidFill>
                  </a:tcPr>
                </a:tc>
                <a:tc>
                  <a:txBody>
                    <a:bodyPr/>
                    <a:lstStyle/>
                    <a:p>
                      <a:pPr algn="ctr">
                        <a:defRPr sz="1150" b="0">
                          <a:solidFill>
                            <a:srgbClr val="1E293B"/>
                          </a:solidFill>
                          <a:latin typeface="Segoe UI"/>
                        </a:defRPr>
                      </a:pPr>
                      <a:r>
                        <a:t>12412334</a:t>
                      </a:r>
                    </a:p>
                  </a:txBody>
                  <a:tcPr>
                    <a:solidFill>
                      <a:srgbClr val="FFFFFF"/>
                    </a:solidFill>
                  </a:tcPr>
                </a:tc>
              </a:tr>
              <a:tr h="420624">
                <a:tc>
                  <a:txBody>
                    <a:bodyPr/>
                    <a:lstStyle/>
                    <a:p>
                      <a:pPr algn="l">
                        <a:defRPr sz="1150" b="1">
                          <a:solidFill>
                            <a:srgbClr val="1E293B"/>
                          </a:solidFill>
                          <a:latin typeface="Segoe UI"/>
                        </a:defRPr>
                      </a:pPr>
                      <a:r>
                        <a:t>Shivaji Jamadar</a:t>
                      </a:r>
                    </a:p>
                  </a:txBody>
                  <a:tcPr>
                    <a:solidFill>
                      <a:srgbClr val="F4F7F4"/>
                    </a:solidFill>
                  </a:tcPr>
                </a:tc>
                <a:tc>
                  <a:txBody>
                    <a:bodyPr/>
                    <a:lstStyle/>
                    <a:p>
                      <a:pPr algn="ctr">
                        <a:defRPr sz="1150" b="0">
                          <a:solidFill>
                            <a:srgbClr val="1E293B"/>
                          </a:solidFill>
                          <a:latin typeface="Segoe UI"/>
                        </a:defRPr>
                      </a:pPr>
                      <a:r>
                        <a:t>14</a:t>
                      </a:r>
                    </a:p>
                  </a:txBody>
                  <a:tcPr>
                    <a:solidFill>
                      <a:srgbClr val="F4F7F4"/>
                    </a:solidFill>
                  </a:tcPr>
                </a:tc>
                <a:tc>
                  <a:txBody>
                    <a:bodyPr/>
                    <a:lstStyle/>
                    <a:p>
                      <a:pPr algn="ctr">
                        <a:defRPr sz="1150" b="0">
                          <a:solidFill>
                            <a:srgbClr val="1E293B"/>
                          </a:solidFill>
                          <a:latin typeface="Segoe UI"/>
                        </a:defRPr>
                      </a:pPr>
                      <a:r>
                        <a:t>12411011</a:t>
                      </a:r>
                    </a:p>
                  </a:txBody>
                  <a:tcPr>
                    <a:solidFill>
                      <a:srgbClr val="F4F7F4"/>
                    </a:solidFill>
                  </a:tcPr>
                </a:tc>
              </a:tr>
            </a:tbl>
          </a:graphicData>
        </a:graphic>
      </p:graphicFrame>
      <p:sp>
        <p:nvSpPr>
          <p:cNvPr id="8" name="TextBox 7"/>
          <p:cNvSpPr txBox="1"/>
          <p:nvPr/>
        </p:nvSpPr>
        <p:spPr>
          <a:xfrm>
            <a:off x="1097280" y="5989320"/>
            <a:ext cx="9966960" cy="320040"/>
          </a:xfrm>
          <a:prstGeom prst="rect">
            <a:avLst/>
          </a:prstGeom>
          <a:noFill/>
        </p:spPr>
        <p:txBody>
          <a:bodyPr wrap="none">
            <a:spAutoFit/>
          </a:bodyPr>
          <a:lstStyle/>
          <a:p>
            <a:pPr algn="ctr">
              <a:defRPr sz="1000">
                <a:solidFill>
                  <a:srgbClr val="475569"/>
                </a:solidFill>
                <a:latin typeface="Segoe UI"/>
              </a:defRPr>
            </a:pPr>
            <a:r>
              <a:t>Academic Year 2025–2026 · Faculty of Technology, Vishwakarma Institute of Technology, Pune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292608"/>
          </a:xfrm>
          <a:prstGeom prst="rect">
            <a:avLst/>
          </a:prstGeom>
          <a:noFill/>
        </p:spPr>
        <p:txBody>
          <a:bodyPr wrap="square" lIns="0" tIns="0" rIns="0" bIns="0">
            <a:spAutoFit/>
          </a:bodyPr>
          <a:lstStyle/>
          <a:p>
            <a:pPr>
              <a:defRPr sz="1100" b="1">
                <a:solidFill>
                  <a:srgbClr val="40916C"/>
                </a:solidFill>
                <a:latin typeface="Segoe UI"/>
              </a:defRPr>
            </a:pPr>
            <a:r>
              <a:t>PROBLEM CONTEXT</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200" b="1">
                <a:solidFill>
                  <a:srgbClr val="1B4332"/>
                </a:solidFill>
                <a:latin typeface="Segoe UI"/>
              </a:defRPr>
            </a:pPr>
            <a:r>
              <a:t>Problem Statement</a:t>
            </a:r>
          </a:p>
        </p:txBody>
      </p:sp>
      <p:sp>
        <p:nvSpPr>
          <p:cNvPr id="4" name="Rectangle 3"/>
          <p:cNvSpPr/>
          <p:nvPr/>
        </p:nvSpPr>
        <p:spPr>
          <a:xfrm>
            <a:off x="731520" y="1188720"/>
            <a:ext cx="10058400" cy="13716"/>
          </a:xfrm>
          <a:prstGeom prst="rect">
            <a:avLst/>
          </a:prstGeom>
          <a:solidFill>
            <a:srgbClr val="D1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t_logo.png"/>
          <p:cNvPicPr>
            <a:picLocks noChangeAspect="1"/>
          </p:cNvPicPr>
          <p:nvPr/>
        </p:nvPicPr>
        <p:blipFill>
          <a:blip r:embed="rId2"/>
          <a:stretch>
            <a:fillRect/>
          </a:stretch>
        </p:blipFill>
        <p:spPr>
          <a:xfrm>
            <a:off x="11064240" y="320040"/>
            <a:ext cx="594360" cy="826305"/>
          </a:xfrm>
          <a:prstGeom prst="rect">
            <a:avLst/>
          </a:prstGeom>
        </p:spPr>
      </p:pic>
      <p:sp>
        <p:nvSpPr>
          <p:cNvPr id="6" name="TextBox 5"/>
          <p:cNvSpPr txBox="1"/>
          <p:nvPr/>
        </p:nvSpPr>
        <p:spPr>
          <a:xfrm>
            <a:off x="731520" y="1371600"/>
            <a:ext cx="6217920" cy="3931920"/>
          </a:xfrm>
          <a:prstGeom prst="rect">
            <a:avLst/>
          </a:prstGeom>
          <a:noFill/>
        </p:spPr>
        <p:txBody>
          <a:bodyPr wrap="square">
            <a:spAutoFit/>
          </a:bodyPr>
          <a:lstStyle/>
          <a:p>
            <a:r>
              <a:rPr b="1" sz="1150">
                <a:solidFill>
                  <a:srgbClr val="1B4332"/>
                </a:solidFill>
                <a:latin typeface="Segoe UI"/>
              </a:rPr>
              <a:t>• Crop Selection Dependency: </a:t>
            </a:r>
            <a:r>
              <a:rPr sz="1100">
                <a:solidFill>
                  <a:srgbClr val="1E293B"/>
                </a:solidFill>
                <a:latin typeface="Segoe UI"/>
              </a:rPr>
              <a:t>Crop selection depends heavily on multi-variable soil parameters (N, P, K, pH) and localized environmental conditions (temperature, humidity, rainfall).</a:t>
            </a:r>
          </a:p>
          <a:p>
            <a:pPr>
              <a:spcBef>
                <a:spcPts val="600"/>
              </a:spcBef>
            </a:pPr>
            <a:r>
              <a:rPr b="1" sz="1150">
                <a:solidFill>
                  <a:srgbClr val="1B4332"/>
                </a:solidFill>
                <a:latin typeface="Segoe UI"/>
              </a:rPr>
              <a:t>• Interpretation Bottleneck: </a:t>
            </a:r>
            <a:r>
              <a:rPr sz="1100">
                <a:solidFill>
                  <a:srgbClr val="1E293B"/>
                </a:solidFill>
                <a:latin typeface="Segoe UI"/>
              </a:rPr>
              <a:t>Farmers often cannot easily interpret laboratory soil chemical reports or translate soil test measurements into the most suitable crop.</a:t>
            </a:r>
          </a:p>
          <a:p>
            <a:pPr>
              <a:spcBef>
                <a:spcPts val="600"/>
              </a:spcBef>
            </a:pPr>
            <a:r>
              <a:rPr b="1" sz="1150">
                <a:solidFill>
                  <a:srgbClr val="1B4332"/>
                </a:solidFill>
                <a:latin typeface="Segoe UI"/>
              </a:rPr>
              <a:t>• Disease Identification Difficulty: </a:t>
            </a:r>
            <a:r>
              <a:rPr sz="1100">
                <a:solidFill>
                  <a:srgbClr val="1E293B"/>
                </a:solidFill>
                <a:latin typeface="Segoe UI"/>
              </a:rPr>
              <a:t>Crop diseases are difficult to diagnose accurately from leaf visual appearance alone, leading to improper or delayed chemical treatment.</a:t>
            </a:r>
          </a:p>
          <a:p>
            <a:pPr>
              <a:spcBef>
                <a:spcPts val="600"/>
              </a:spcBef>
            </a:pPr>
            <a:r>
              <a:rPr b="1" sz="1150">
                <a:solidFill>
                  <a:srgbClr val="1B4332"/>
                </a:solidFill>
                <a:latin typeface="Segoe UI"/>
              </a:rPr>
              <a:t>• Farm History Isolation: </a:t>
            </a:r>
            <a:r>
              <a:rPr sz="1100">
                <a:solidFill>
                  <a:srgbClr val="1E293B"/>
                </a:solidFill>
                <a:latin typeface="Segoe UI"/>
              </a:rPr>
              <a:t>Prediction results and farm history should remain persistently associated with the farmer's own farm profile rather than isolated one-time queries.</a:t>
            </a:r>
          </a:p>
          <a:p>
            <a:pPr>
              <a:spcBef>
                <a:spcPts val="600"/>
              </a:spcBef>
            </a:pPr>
            <a:r>
              <a:rPr b="1" sz="1150">
                <a:solidFill>
                  <a:srgbClr val="1B4332"/>
                </a:solidFill>
                <a:latin typeface="Segoe UI"/>
              </a:rPr>
              <a:t>• Regional Linguistic Barrier: </a:t>
            </a:r>
            <a:r>
              <a:rPr sz="1100">
                <a:solidFill>
                  <a:srgbClr val="1E293B"/>
                </a:solidFill>
                <a:latin typeface="Segoe UI"/>
              </a:rPr>
              <a:t>Agricultural advisory information must be accessible in regional languages (English, Hindi, Marathi) so that local farming communities can benefit directly.</a:t>
            </a:r>
          </a:p>
          <a:p>
            <a:pPr>
              <a:spcBef>
                <a:spcPts val="600"/>
              </a:spcBef>
            </a:pPr>
            <a:r>
              <a:rPr b="1" sz="1150">
                <a:solidFill>
                  <a:srgbClr val="1B4332"/>
                </a:solidFill>
                <a:latin typeface="Segoe UI"/>
              </a:rPr>
              <a:t>• Integrated ML Decision Support: </a:t>
            </a:r>
            <a:r>
              <a:rPr sz="1100">
                <a:solidFill>
                  <a:srgbClr val="1E293B"/>
                </a:solidFill>
                <a:latin typeface="Segoe UI"/>
              </a:rPr>
              <a:t>A machine-learning based decision-support system can combine tabular soil modeling, vision-based pathology detection, and farm history tracking.</a:t>
            </a:r>
          </a:p>
        </p:txBody>
      </p:sp>
      <p:sp>
        <p:nvSpPr>
          <p:cNvPr id="7" name="Rounded Rectangle 6"/>
          <p:cNvSpPr/>
          <p:nvPr/>
        </p:nvSpPr>
        <p:spPr>
          <a:xfrm>
            <a:off x="7223760" y="1417320"/>
            <a:ext cx="4206240" cy="338328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eld_photo.jpg"/>
          <p:cNvPicPr>
            <a:picLocks noChangeAspect="1"/>
          </p:cNvPicPr>
          <p:nvPr/>
        </p:nvPicPr>
        <p:blipFill>
          <a:blip r:embed="rId3"/>
          <a:stretch>
            <a:fillRect/>
          </a:stretch>
        </p:blipFill>
        <p:spPr>
          <a:xfrm>
            <a:off x="7360920" y="1554480"/>
            <a:ext cx="3931920" cy="2560320"/>
          </a:xfrm>
          <a:prstGeom prst="rect">
            <a:avLst/>
          </a:prstGeom>
        </p:spPr>
      </p:pic>
      <p:sp>
        <p:nvSpPr>
          <p:cNvPr id="9" name="TextBox 8"/>
          <p:cNvSpPr txBox="1"/>
          <p:nvPr/>
        </p:nvSpPr>
        <p:spPr>
          <a:xfrm>
            <a:off x="7360920" y="4160520"/>
            <a:ext cx="3931920" cy="548640"/>
          </a:xfrm>
          <a:prstGeom prst="rect">
            <a:avLst/>
          </a:prstGeom>
          <a:noFill/>
        </p:spPr>
        <p:txBody>
          <a:bodyPr wrap="none">
            <a:spAutoFit/>
          </a:bodyPr>
          <a:lstStyle/>
          <a:p>
            <a:pPr>
              <a:defRPr sz="950" i="1">
                <a:solidFill>
                  <a:srgbClr val="475569"/>
                </a:solidFill>
              </a:defRPr>
            </a:pPr>
            <a:r>
              <a:t>Fig 1: Real-world agricultural field conditions in Maharashtra requiring data-backed crop and health advisory.</a:t>
            </a:r>
          </a:p>
        </p:txBody>
      </p:sp>
      <p:sp>
        <p:nvSpPr>
          <p:cNvPr id="10" name="Rounded Rectangle 9"/>
          <p:cNvSpPr/>
          <p:nvPr/>
        </p:nvSpPr>
        <p:spPr>
          <a:xfrm>
            <a:off x="731520" y="5440680"/>
            <a:ext cx="10698480" cy="868680"/>
          </a:xfrm>
          <a:prstGeom prst="roundRect">
            <a:avLst/>
          </a:prstGeom>
          <a:solidFill>
            <a:srgbClr val="EAF5EE"/>
          </a:solidFill>
          <a:ln w="1270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04688"/>
            <a:ext cx="10332720" cy="731520"/>
          </a:xfrm>
          <a:prstGeom prst="rect">
            <a:avLst/>
          </a:prstGeom>
          <a:noFill/>
        </p:spPr>
        <p:txBody>
          <a:bodyPr wrap="square">
            <a:spAutoFit/>
          </a:bodyPr>
          <a:lstStyle/>
          <a:p>
            <a:pPr>
              <a:defRPr sz="1100" b="1">
                <a:solidFill>
                  <a:srgbClr val="1B4332"/>
                </a:solidFill>
              </a:defRPr>
            </a:pPr>
            <a:r>
              <a:t>Problem Statement Summary:</a:t>
            </a:r>
          </a:p>
          <a:p>
            <a:pPr>
              <a:defRPr sz="1100" b="1">
                <a:solidFill>
                  <a:srgbClr val="1E293B"/>
                </a:solidFill>
              </a:defRPr>
            </a:pPr>
            <a:r>
              <a:t>"To develop and evaluate an integrated ML-powered decision-support system that recommends optimal crops from soil and weather parameters, classifies crop leaf diseases with visual Grad-CAM interpretability, and maintains isolated, multilingual farm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292608"/>
          </a:xfrm>
          <a:prstGeom prst="rect">
            <a:avLst/>
          </a:prstGeom>
          <a:noFill/>
        </p:spPr>
        <p:txBody>
          <a:bodyPr wrap="square" lIns="0" tIns="0" rIns="0" bIns="0">
            <a:spAutoFit/>
          </a:bodyPr>
          <a:lstStyle/>
          <a:p>
            <a:pPr>
              <a:defRPr sz="1100" b="1">
                <a:solidFill>
                  <a:srgbClr val="40916C"/>
                </a:solidFill>
                <a:latin typeface="Segoe UI"/>
              </a:defRPr>
            </a:pPr>
            <a:r>
              <a:t>PROJECT SCOPE</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200" b="1">
                <a:solidFill>
                  <a:srgbClr val="1B4332"/>
                </a:solidFill>
                <a:latin typeface="Segoe UI"/>
              </a:defRPr>
            </a:pPr>
            <a:r>
              <a:t>Project Objectives</a:t>
            </a:r>
          </a:p>
        </p:txBody>
      </p:sp>
      <p:sp>
        <p:nvSpPr>
          <p:cNvPr id="4" name="Rectangle 3"/>
          <p:cNvSpPr/>
          <p:nvPr/>
        </p:nvSpPr>
        <p:spPr>
          <a:xfrm>
            <a:off x="731520" y="1188720"/>
            <a:ext cx="10058400" cy="13716"/>
          </a:xfrm>
          <a:prstGeom prst="rect">
            <a:avLst/>
          </a:prstGeom>
          <a:solidFill>
            <a:srgbClr val="D1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t_logo.png"/>
          <p:cNvPicPr>
            <a:picLocks noChangeAspect="1"/>
          </p:cNvPicPr>
          <p:nvPr/>
        </p:nvPicPr>
        <p:blipFill>
          <a:blip r:embed="rId2"/>
          <a:stretch>
            <a:fillRect/>
          </a:stretch>
        </p:blipFill>
        <p:spPr>
          <a:xfrm>
            <a:off x="11064240" y="320040"/>
            <a:ext cx="594360" cy="826305"/>
          </a:xfrm>
          <a:prstGeom prst="rect">
            <a:avLst/>
          </a:prstGeom>
        </p:spPr>
      </p:pic>
      <p:sp>
        <p:nvSpPr>
          <p:cNvPr id="6" name="Rounded Rectangle 5"/>
          <p:cNvSpPr/>
          <p:nvPr/>
        </p:nvSpPr>
        <p:spPr>
          <a:xfrm>
            <a:off x="731520" y="1371600"/>
            <a:ext cx="5212080" cy="411480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754880" cy="3840480"/>
          </a:xfrm>
          <a:prstGeom prst="rect">
            <a:avLst/>
          </a:prstGeom>
          <a:noFill/>
        </p:spPr>
        <p:txBody>
          <a:bodyPr wrap="square">
            <a:spAutoFit/>
          </a:bodyPr>
          <a:lstStyle/>
          <a:p>
            <a:pPr>
              <a:defRPr sz="1350" b="1">
                <a:solidFill>
                  <a:srgbClr val="1B4332"/>
                </a:solidFill>
              </a:defRPr>
            </a:pPr>
            <a:r>
              <a:t>MACHINE LEARNING OBJECTIVES</a:t>
            </a:r>
          </a:p>
          <a:p>
            <a:pPr>
              <a:spcBef>
                <a:spcPts val="800"/>
              </a:spcBef>
            </a:pPr>
            <a:r>
              <a:rPr b="1" sz="1150">
                <a:solidFill>
                  <a:srgbClr val="1E293B"/>
                </a:solidFill>
              </a:rPr>
              <a:t>1. Crop Recommendation: </a:t>
            </a:r>
            <a:r>
              <a:rPr sz="1100">
                <a:solidFill>
                  <a:srgbClr val="475569"/>
                </a:solidFill>
              </a:rPr>
              <a:t>Train and evaluate supervised classification models using 7 soil and environmental features (N, P, K, Temperature, Humidity, Soil pH, Rainfall).</a:t>
            </a:r>
          </a:p>
          <a:p>
            <a:pPr>
              <a:spcBef>
                <a:spcPts val="800"/>
              </a:spcBef>
            </a:pPr>
            <a:r>
              <a:rPr b="1" sz="1150">
                <a:solidFill>
                  <a:srgbClr val="1E293B"/>
                </a:solidFill>
              </a:rPr>
              <a:t>2. Crop Disease Classification: </a:t>
            </a:r>
            <a:r>
              <a:rPr sz="1100">
                <a:solidFill>
                  <a:srgbClr val="475569"/>
                </a:solidFill>
              </a:rPr>
              <a:t>Develop a deep convolutional image classification pipeline (MobileNetV2) to identify pathologies from crop leaf photographs.</a:t>
            </a:r>
          </a:p>
          <a:p>
            <a:pPr>
              <a:spcBef>
                <a:spcPts val="800"/>
              </a:spcBef>
            </a:pPr>
            <a:r>
              <a:rPr b="1" sz="1150">
                <a:solidFill>
                  <a:srgbClr val="1E293B"/>
                </a:solidFill>
              </a:rPr>
              <a:t>3. Model Comparison &amp; Benchmarking: </a:t>
            </a:r>
            <a:r>
              <a:rPr sz="1100">
                <a:solidFill>
                  <a:srgbClr val="475569"/>
                </a:solidFill>
              </a:rPr>
              <a:t>Benchmark multiple algorithms (Decision Tree, Random Forest, Gradient Boosting) on held-out evaluation splits and log training/inference latency.</a:t>
            </a:r>
          </a:p>
          <a:p>
            <a:pPr>
              <a:spcBef>
                <a:spcPts val="800"/>
              </a:spcBef>
            </a:pPr>
            <a:r>
              <a:rPr b="1" sz="1150">
                <a:solidFill>
                  <a:srgbClr val="1E293B"/>
                </a:solidFill>
              </a:rPr>
              <a:t>4. Grad-CAM Explainability: </a:t>
            </a:r>
            <a:r>
              <a:rPr sz="1100">
                <a:solidFill>
                  <a:srgbClr val="475569"/>
                </a:solidFill>
              </a:rPr>
              <a:t>Formulate Gradient-weighted Class Activation Mapping to visually highlight image regions that contribute to the disease prediction.</a:t>
            </a:r>
          </a:p>
        </p:txBody>
      </p:sp>
      <p:sp>
        <p:nvSpPr>
          <p:cNvPr id="8" name="Rounded Rectangle 7"/>
          <p:cNvSpPr/>
          <p:nvPr/>
        </p:nvSpPr>
        <p:spPr>
          <a:xfrm>
            <a:off x="6217920" y="1371600"/>
            <a:ext cx="5212080" cy="411480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08760"/>
            <a:ext cx="4754880" cy="3840480"/>
          </a:xfrm>
          <a:prstGeom prst="rect">
            <a:avLst/>
          </a:prstGeom>
          <a:noFill/>
        </p:spPr>
        <p:txBody>
          <a:bodyPr wrap="square">
            <a:spAutoFit/>
          </a:bodyPr>
          <a:lstStyle/>
          <a:p>
            <a:pPr>
              <a:defRPr sz="1350" b="1">
                <a:solidFill>
                  <a:srgbClr val="1B4332"/>
                </a:solidFill>
              </a:defRPr>
            </a:pPr>
            <a:r>
              <a:t>APPLICATION OBJECTIVES</a:t>
            </a:r>
          </a:p>
          <a:p>
            <a:pPr>
              <a:spcBef>
                <a:spcPts val="800"/>
              </a:spcBef>
            </a:pPr>
            <a:r>
              <a:rPr b="1" sz="1150">
                <a:solidFill>
                  <a:srgbClr val="1E293B"/>
                </a:solidFill>
              </a:rPr>
              <a:t>1. Farmer-Specific Profiles: </a:t>
            </a:r>
            <a:r>
              <a:rPr sz="1100">
                <a:solidFill>
                  <a:srgbClr val="475569"/>
                </a:solidFill>
              </a:rPr>
              <a:t>Implement secure authentication and isolated farm profile storage (area, location, soil type, irrigation system).</a:t>
            </a:r>
          </a:p>
          <a:p>
            <a:pPr>
              <a:spcBef>
                <a:spcPts val="800"/>
              </a:spcBef>
            </a:pPr>
            <a:r>
              <a:rPr b="1" sz="1150">
                <a:solidFill>
                  <a:srgbClr val="1E293B"/>
                </a:solidFill>
              </a:rPr>
              <a:t>2. Prediction &amp; Scan History: </a:t>
            </a:r>
            <a:r>
              <a:rPr sz="1100">
                <a:solidFill>
                  <a:srgbClr val="475569"/>
                </a:solidFill>
              </a:rPr>
              <a:t>Maintain persistent SQLite database records of past crop recommendations and leaf disease scans for each authenticated farmer.</a:t>
            </a:r>
          </a:p>
          <a:p>
            <a:pPr>
              <a:spcBef>
                <a:spcPts val="800"/>
              </a:spcBef>
            </a:pPr>
            <a:r>
              <a:rPr b="1" sz="1150">
                <a:solidFill>
                  <a:srgbClr val="1E293B"/>
                </a:solidFill>
              </a:rPr>
              <a:t>3. Multilingual Interface: </a:t>
            </a:r>
            <a:r>
              <a:rPr sz="1100">
                <a:solidFill>
                  <a:srgbClr val="475569"/>
                </a:solidFill>
              </a:rPr>
              <a:t>Provide native interface support in English, Hindi (हिंदी), and Marathi (मराठी) to bridge rural literacy barriers.</a:t>
            </a:r>
          </a:p>
          <a:p>
            <a:pPr>
              <a:spcBef>
                <a:spcPts val="800"/>
              </a:spcBef>
            </a:pPr>
            <a:r>
              <a:rPr b="1" sz="1150">
                <a:solidFill>
                  <a:srgbClr val="1E293B"/>
                </a:solidFill>
              </a:rPr>
              <a:t>4. Farm Advisory Assistant: </a:t>
            </a:r>
            <a:r>
              <a:rPr sz="1100">
                <a:solidFill>
                  <a:srgbClr val="475569"/>
                </a:solidFill>
              </a:rPr>
              <a:t>Provide actionable, farmer-friendly agricultural recommendations using weather context without fabricating missing soil data.</a:t>
            </a:r>
          </a:p>
          <a:p>
            <a:pPr>
              <a:spcBef>
                <a:spcPts val="800"/>
              </a:spcBef>
            </a:pPr>
            <a:r>
              <a:rPr b="1" sz="1150">
                <a:solidFill>
                  <a:srgbClr val="1E293B"/>
                </a:solidFill>
              </a:rPr>
              <a:t>5. Analyst Analytics Dashboard: </a:t>
            </a:r>
            <a:r>
              <a:rPr sz="1100">
                <a:solidFill>
                  <a:srgbClr val="475569"/>
                </a:solidFill>
              </a:rPr>
              <a:t>Provide a dedicated analyst dashboard for monitoring project-level data aggregates and inspecting saved model evaluation artifacts.</a:t>
            </a:r>
          </a:p>
        </p:txBody>
      </p:sp>
      <p:sp>
        <p:nvSpPr>
          <p:cNvPr id="10" name="Rounded Rectangle 9"/>
          <p:cNvSpPr/>
          <p:nvPr/>
        </p:nvSpPr>
        <p:spPr>
          <a:xfrm>
            <a:off x="731520" y="5623560"/>
            <a:ext cx="10698480" cy="685800"/>
          </a:xfrm>
          <a:prstGeom prst="roundRect">
            <a:avLst/>
          </a:prstGeom>
          <a:solidFill>
            <a:srgbClr val="EAF5EE"/>
          </a:solidFill>
          <a:ln w="1270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B4332"/>
                </a:solidFill>
              </a:defRPr>
            </a:pPr>
            <a:r>
              <a:t>Core Design Principle: Machine learning models provide the analytical intelligence, while the web application provides access, isolation, and interpretability.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292608"/>
          </a:xfrm>
          <a:prstGeom prst="rect">
            <a:avLst/>
          </a:prstGeom>
          <a:noFill/>
        </p:spPr>
        <p:txBody>
          <a:bodyPr wrap="square" lIns="0" tIns="0" rIns="0" bIns="0">
            <a:spAutoFit/>
          </a:bodyPr>
          <a:lstStyle/>
          <a:p>
            <a:pPr>
              <a:defRPr sz="1100" b="1">
                <a:solidFill>
                  <a:srgbClr val="40916C"/>
                </a:solidFill>
                <a:latin typeface="Segoe UI"/>
              </a:defRPr>
            </a:pPr>
            <a:r>
              <a:t>SYSTEM DESIGN</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200" b="1">
                <a:solidFill>
                  <a:srgbClr val="1B4332"/>
                </a:solidFill>
                <a:latin typeface="Segoe UI"/>
              </a:defRPr>
            </a:pPr>
            <a:r>
              <a:t>System Architecture</a:t>
            </a:r>
          </a:p>
        </p:txBody>
      </p:sp>
      <p:sp>
        <p:nvSpPr>
          <p:cNvPr id="4" name="Rectangle 3"/>
          <p:cNvSpPr/>
          <p:nvPr/>
        </p:nvSpPr>
        <p:spPr>
          <a:xfrm>
            <a:off x="731520" y="1188720"/>
            <a:ext cx="10058400" cy="13716"/>
          </a:xfrm>
          <a:prstGeom prst="rect">
            <a:avLst/>
          </a:prstGeom>
          <a:solidFill>
            <a:srgbClr val="D1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t_logo.png"/>
          <p:cNvPicPr>
            <a:picLocks noChangeAspect="1"/>
          </p:cNvPicPr>
          <p:nvPr/>
        </p:nvPicPr>
        <p:blipFill>
          <a:blip r:embed="rId2"/>
          <a:stretch>
            <a:fillRect/>
          </a:stretch>
        </p:blipFill>
        <p:spPr>
          <a:xfrm>
            <a:off x="11064240" y="320040"/>
            <a:ext cx="594360" cy="826305"/>
          </a:xfrm>
          <a:prstGeom prst="rect">
            <a:avLst/>
          </a:prstGeom>
        </p:spPr>
      </p:pic>
      <p:sp>
        <p:nvSpPr>
          <p:cNvPr id="6" name="Rounded Rectangle 5"/>
          <p:cNvSpPr/>
          <p:nvPr/>
        </p:nvSpPr>
        <p:spPr>
          <a:xfrm>
            <a:off x="731520" y="1371600"/>
            <a:ext cx="6858000" cy="457200"/>
          </a:xfrm>
          <a:prstGeom prst="round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FARMER PIPELINE: Authentication → Profile Setup → Dual ML Inference</a:t>
            </a:r>
          </a:p>
        </p:txBody>
      </p:sp>
      <p:sp>
        <p:nvSpPr>
          <p:cNvPr id="7" name="Rounded Rectangle 6"/>
          <p:cNvSpPr/>
          <p:nvPr/>
        </p:nvSpPr>
        <p:spPr>
          <a:xfrm>
            <a:off x="731520" y="1965960"/>
            <a:ext cx="6858000" cy="685800"/>
          </a:xfrm>
          <a:prstGeom prst="roundRect">
            <a:avLst/>
          </a:prstGeom>
          <a:solidFill>
            <a:srgbClr val="F4F7F4"/>
          </a:solidFill>
          <a:ln>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293B"/>
                </a:solidFill>
              </a:defRPr>
            </a:pPr>
            <a:r>
              <a:t>FARMER → LOGIN / REGISTRATION → FARM PROFILE (Soil Type, Area, Location)</a:t>
            </a:r>
          </a:p>
        </p:txBody>
      </p:sp>
      <p:sp>
        <p:nvSpPr>
          <p:cNvPr id="8" name="Rounded Rectangle 7"/>
          <p:cNvSpPr/>
          <p:nvPr/>
        </p:nvSpPr>
        <p:spPr>
          <a:xfrm>
            <a:off x="731520" y="2788920"/>
            <a:ext cx="3291840" cy="1554480"/>
          </a:xfrm>
          <a:prstGeom prst="roundRect">
            <a:avLst/>
          </a:prstGeom>
          <a:solidFill>
            <a:srgbClr val="FFFFFF"/>
          </a:solidFill>
          <a:ln w="1905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B4332"/>
                </a:solidFill>
              </a:defRPr>
            </a:pPr>
            <a:r>
              <a:t>CROP RECOMMENDATION</a:t>
            </a:r>
          </a:p>
          <a:p>
            <a:pPr>
              <a:defRPr sz="1000">
                <a:solidFill>
                  <a:srgbClr val="1E293B"/>
                </a:solidFill>
              </a:defRPr>
            </a:pPr>
            <a:r>
              <a:t>↓</a:t>
            </a:r>
            <a:br/>
            <a:r>
              <a:t>TABULAR ML MODEL</a:t>
            </a:r>
            <a:br/>
            <a:r>
              <a:t>(Random Forest / Boosting)</a:t>
            </a:r>
            <a:br/>
            <a:r>
              <a:t>↓</a:t>
            </a:r>
            <a:br/>
            <a:r>
              <a:t>CROP PREDICTION</a:t>
            </a:r>
          </a:p>
        </p:txBody>
      </p:sp>
      <p:sp>
        <p:nvSpPr>
          <p:cNvPr id="9" name="Rounded Rectangle 8"/>
          <p:cNvSpPr/>
          <p:nvPr/>
        </p:nvSpPr>
        <p:spPr>
          <a:xfrm>
            <a:off x="4297680" y="2788920"/>
            <a:ext cx="3291840" cy="1554480"/>
          </a:xfrm>
          <a:prstGeom prst="roundRect">
            <a:avLst/>
          </a:prstGeom>
          <a:solidFill>
            <a:srgbClr val="FFFFFF"/>
          </a:solidFill>
          <a:ln w="1905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B4332"/>
                </a:solidFill>
              </a:defRPr>
            </a:pPr>
            <a:r>
              <a:t>LEAF SCANNER</a:t>
            </a:r>
          </a:p>
          <a:p>
            <a:pPr>
              <a:defRPr sz="1000">
                <a:solidFill>
                  <a:srgbClr val="1E293B"/>
                </a:solidFill>
              </a:defRPr>
            </a:pPr>
            <a:r>
              <a:t>↓</a:t>
            </a:r>
            <a:br/>
            <a:r>
              <a:t>IMAGE CLASSIFIER (MobileNetV2)</a:t>
            </a:r>
            <a:br/>
            <a:r>
              <a:t>↓</a:t>
            </a:r>
            <a:br/>
            <a:r>
              <a:t>DISEASE PREDICTION → GRAD-CAM</a:t>
            </a:r>
          </a:p>
        </p:txBody>
      </p:sp>
      <p:sp>
        <p:nvSpPr>
          <p:cNvPr id="10" name="Rounded Rectangle 9"/>
          <p:cNvSpPr/>
          <p:nvPr/>
        </p:nvSpPr>
        <p:spPr>
          <a:xfrm>
            <a:off x="731520" y="4480560"/>
            <a:ext cx="6858000" cy="731520"/>
          </a:xfrm>
          <a:prstGeom prst="roundRect">
            <a:avLst/>
          </a:prstGeom>
          <a:solidFill>
            <a:srgbClr val="EAF5EE"/>
          </a:solidFill>
          <a:ln w="1270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B4332"/>
                </a:solidFill>
              </a:defRPr>
            </a:pPr>
            <a:r>
              <a:t>SQLITE DATABASE (Isolated by user_id) → FARM HISTORY &amp; MULTILINGUAL ADVISORY</a:t>
            </a:r>
          </a:p>
        </p:txBody>
      </p:sp>
      <p:sp>
        <p:nvSpPr>
          <p:cNvPr id="11" name="Rounded Rectangle 10"/>
          <p:cNvSpPr/>
          <p:nvPr/>
        </p:nvSpPr>
        <p:spPr>
          <a:xfrm>
            <a:off x="7955279" y="1371600"/>
            <a:ext cx="3474720" cy="457200"/>
          </a:xfrm>
          <a:prstGeom prst="round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ANALYST BRANCH</a:t>
            </a:r>
          </a:p>
        </p:txBody>
      </p:sp>
      <p:sp>
        <p:nvSpPr>
          <p:cNvPr id="12" name="Rounded Rectangle 11"/>
          <p:cNvSpPr/>
          <p:nvPr/>
        </p:nvSpPr>
        <p:spPr>
          <a:xfrm>
            <a:off x="7955279" y="1965960"/>
            <a:ext cx="3474720" cy="324612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defRPr>
            </a:pPr>
            <a:r>
              <a:t>ANALYST</a:t>
            </a:r>
            <a:br/>
            <a:r>
              <a:t>↓</a:t>
            </a:r>
            <a:br/>
            <a:r>
              <a:t>ANALYST LOGIN</a:t>
            </a:r>
            <a:br/>
            <a:r>
              <a:t>↓</a:t>
            </a:r>
            <a:br/>
            <a:r>
              <a:t>ANALYST DASHBOARD</a:t>
            </a:r>
            <a:br/>
            <a:r>
              <a:t>↓</a:t>
            </a:r>
            <a:br/>
            <a:r>
              <a:t>DATABASE AGGREGATES</a:t>
            </a:r>
            <a:br/>
            <a:r>
              <a:t>+</a:t>
            </a:r>
            <a:br/>
            <a:r>
              <a:t>SAVED ML EVALUATION ARTIFACTS</a:t>
            </a:r>
          </a:p>
          <a:p>
            <a:pPr algn="ctr">
              <a:spcBef>
                <a:spcPts val="800"/>
              </a:spcBef>
              <a:defRPr sz="950">
                <a:solidFill>
                  <a:srgbClr val="475569"/>
                </a:solidFill>
              </a:defRPr>
            </a:pPr>
            <a:r>
              <a:t>(Inspects crop_model_comparison.json, disease_model_metrics.json, and system-wide metrics)</a:t>
            </a:r>
          </a:p>
        </p:txBody>
      </p:sp>
      <p:sp>
        <p:nvSpPr>
          <p:cNvPr id="13" name="TextBox 12"/>
          <p:cNvSpPr txBox="1"/>
          <p:nvPr/>
        </p:nvSpPr>
        <p:spPr>
          <a:xfrm>
            <a:off x="731520" y="5440680"/>
            <a:ext cx="10698480" cy="731520"/>
          </a:xfrm>
          <a:prstGeom prst="rect">
            <a:avLst/>
          </a:prstGeom>
          <a:noFill/>
        </p:spPr>
        <p:txBody>
          <a:bodyPr wrap="square">
            <a:spAutoFit/>
          </a:bodyPr>
          <a:lstStyle/>
          <a:p>
            <a:pPr>
              <a:defRPr sz="1100" b="1">
                <a:solidFill>
                  <a:srgbClr val="1B4332"/>
                </a:solidFill>
              </a:defRPr>
            </a:pPr>
            <a:r>
              <a:t>Key Architectural Properties:</a:t>
            </a:r>
          </a:p>
          <a:p>
            <a:pPr>
              <a:defRPr sz="1050">
                <a:solidFill>
                  <a:srgbClr val="1E293B"/>
                </a:solidFill>
              </a:defRPr>
            </a:pPr>
            <a:r>
              <a:t>• Decoupled ML Inference: Models run from pre-trained serialized bundles (.joblib / .keras), avoiding retraining latency during HTTP requests.</a:t>
            </a:r>
            <a:br/>
            <a:r>
              <a:t>• Data Security: Foreign key enforcement ensures each farmer only accesses their own farm profile and prediction records.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292608"/>
          </a:xfrm>
          <a:prstGeom prst="rect">
            <a:avLst/>
          </a:prstGeom>
          <a:noFill/>
        </p:spPr>
        <p:txBody>
          <a:bodyPr wrap="square" lIns="0" tIns="0" rIns="0" bIns="0">
            <a:spAutoFit/>
          </a:bodyPr>
          <a:lstStyle/>
          <a:p>
            <a:pPr>
              <a:defRPr sz="1100" b="1">
                <a:solidFill>
                  <a:srgbClr val="40916C"/>
                </a:solidFill>
                <a:latin typeface="Segoe UI"/>
              </a:defRPr>
            </a:pPr>
            <a:r>
              <a:t>DATA ENGINEERING</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200" b="1">
                <a:solidFill>
                  <a:srgbClr val="1B4332"/>
                </a:solidFill>
                <a:latin typeface="Segoe UI"/>
              </a:defRPr>
            </a:pPr>
            <a:r>
              <a:t>Dataset &amp; ML Features</a:t>
            </a:r>
          </a:p>
        </p:txBody>
      </p:sp>
      <p:sp>
        <p:nvSpPr>
          <p:cNvPr id="4" name="Rectangle 3"/>
          <p:cNvSpPr/>
          <p:nvPr/>
        </p:nvSpPr>
        <p:spPr>
          <a:xfrm>
            <a:off x="731520" y="1188720"/>
            <a:ext cx="10058400" cy="13716"/>
          </a:xfrm>
          <a:prstGeom prst="rect">
            <a:avLst/>
          </a:prstGeom>
          <a:solidFill>
            <a:srgbClr val="D1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t_logo.png"/>
          <p:cNvPicPr>
            <a:picLocks noChangeAspect="1"/>
          </p:cNvPicPr>
          <p:nvPr/>
        </p:nvPicPr>
        <p:blipFill>
          <a:blip r:embed="rId2"/>
          <a:stretch>
            <a:fillRect/>
          </a:stretch>
        </p:blipFill>
        <p:spPr>
          <a:xfrm>
            <a:off x="11064240" y="320040"/>
            <a:ext cx="594360" cy="826305"/>
          </a:xfrm>
          <a:prstGeom prst="rect">
            <a:avLst/>
          </a:prstGeom>
        </p:spPr>
      </p:pic>
      <p:sp>
        <p:nvSpPr>
          <p:cNvPr id="6" name="Rounded Rectangle 5"/>
          <p:cNvSpPr/>
          <p:nvPr/>
        </p:nvSpPr>
        <p:spPr>
          <a:xfrm>
            <a:off x="731520" y="1371600"/>
            <a:ext cx="5212080" cy="347472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846320" cy="3200400"/>
          </a:xfrm>
          <a:prstGeom prst="rect">
            <a:avLst/>
          </a:prstGeom>
          <a:noFill/>
        </p:spPr>
        <p:txBody>
          <a:bodyPr wrap="square">
            <a:spAutoFit/>
          </a:bodyPr>
          <a:lstStyle/>
          <a:p>
            <a:pPr>
              <a:defRPr sz="1300" b="1">
                <a:solidFill>
                  <a:srgbClr val="1B4332"/>
                </a:solidFill>
              </a:defRPr>
            </a:pPr>
            <a:r>
              <a:t>SECTION 1: CROP RECOMMENDATION</a:t>
            </a:r>
          </a:p>
          <a:p>
            <a:pPr>
              <a:spcBef>
                <a:spcPts val="600"/>
              </a:spcBef>
              <a:defRPr sz="1100" b="1">
                <a:solidFill>
                  <a:srgbClr val="1E293B"/>
                </a:solidFill>
              </a:defRPr>
            </a:pPr>
            <a:r>
              <a:t>Input Features (7 Continuous Variables):</a:t>
            </a:r>
          </a:p>
          <a:p>
            <a:pPr>
              <a:defRPr sz="1000">
                <a:solidFill>
                  <a:srgbClr val="475569"/>
                </a:solidFill>
              </a:defRPr>
            </a:pPr>
            <a:r>
              <a:t>• Nitrogen (N) – Ratio in soil (kg/ha)</a:t>
            </a:r>
          </a:p>
          <a:p>
            <a:pPr>
              <a:defRPr sz="1000">
                <a:solidFill>
                  <a:srgbClr val="475569"/>
                </a:solidFill>
              </a:defRPr>
            </a:pPr>
            <a:r>
              <a:t>• Phosphorus (P) – Ratio in soil (kg/ha)</a:t>
            </a:r>
          </a:p>
          <a:p>
            <a:pPr>
              <a:defRPr sz="1000">
                <a:solidFill>
                  <a:srgbClr val="475569"/>
                </a:solidFill>
              </a:defRPr>
            </a:pPr>
            <a:r>
              <a:t>• Potassium (K) – Ratio in soil (kg/ha)</a:t>
            </a:r>
          </a:p>
          <a:p>
            <a:pPr>
              <a:defRPr sz="1000">
                <a:solidFill>
                  <a:srgbClr val="475569"/>
                </a:solidFill>
              </a:defRPr>
            </a:pPr>
            <a:r>
              <a:t>• Temperature – Ambient temperature in °C</a:t>
            </a:r>
          </a:p>
          <a:p>
            <a:pPr>
              <a:defRPr sz="1000">
                <a:solidFill>
                  <a:srgbClr val="475569"/>
                </a:solidFill>
              </a:defRPr>
            </a:pPr>
            <a:r>
              <a:t>• Humidity – Relative humidity in %</a:t>
            </a:r>
          </a:p>
          <a:p>
            <a:pPr>
              <a:defRPr sz="1000">
                <a:solidFill>
                  <a:srgbClr val="475569"/>
                </a:solidFill>
              </a:defRPr>
            </a:pPr>
            <a:r>
              <a:t>• Soil pH – Soil acidity level (0 to 14 scale)</a:t>
            </a:r>
          </a:p>
          <a:p>
            <a:pPr>
              <a:defRPr sz="1000">
                <a:solidFill>
                  <a:srgbClr val="475569"/>
                </a:solidFill>
              </a:defRPr>
            </a:pPr>
            <a:r>
              <a:t>• Rainfall – Precipitation depth in mm</a:t>
            </a:r>
          </a:p>
          <a:p>
            <a:pPr>
              <a:spcBef>
                <a:spcPts val="400"/>
              </a:spcBef>
              <a:defRPr sz="1050" b="1">
                <a:solidFill>
                  <a:srgbClr val="1B4332"/>
                </a:solidFill>
              </a:defRPr>
            </a:pPr>
            <a:r>
              <a:t>Target Variable: Recommended Crop (22 Classes: Rice, Maize, Chickpea, Cotton, Coffee, Grapes, Mango, etc.)</a:t>
            </a:r>
          </a:p>
        </p:txBody>
      </p:sp>
      <p:sp>
        <p:nvSpPr>
          <p:cNvPr id="8" name="Rounded Rectangle 7"/>
          <p:cNvSpPr/>
          <p:nvPr/>
        </p:nvSpPr>
        <p:spPr>
          <a:xfrm>
            <a:off x="6217920" y="1371600"/>
            <a:ext cx="5212080" cy="347472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3200400"/>
          </a:xfrm>
          <a:prstGeom prst="rect">
            <a:avLst/>
          </a:prstGeom>
          <a:noFill/>
        </p:spPr>
        <p:txBody>
          <a:bodyPr wrap="square">
            <a:spAutoFit/>
          </a:bodyPr>
          <a:lstStyle/>
          <a:p>
            <a:pPr>
              <a:defRPr sz="1300" b="1">
                <a:solidFill>
                  <a:srgbClr val="1B4332"/>
                </a:solidFill>
              </a:defRPr>
            </a:pPr>
            <a:r>
              <a:t>SECTION 2: DISEASE CLASSIFICATION</a:t>
            </a:r>
          </a:p>
          <a:p>
            <a:pPr>
              <a:spcBef>
                <a:spcPts val="400"/>
              </a:spcBef>
            </a:pPr>
            <a:r>
              <a:rPr b="1" sz="1050">
                <a:solidFill>
                  <a:srgbClr val="1E293B"/>
                </a:solidFill>
              </a:rPr>
              <a:t>• Modality: </a:t>
            </a:r>
            <a:r>
              <a:rPr sz="1000">
                <a:solidFill>
                  <a:srgbClr val="475569"/>
                </a:solidFill>
              </a:rPr>
              <a:t>RGB leaf photographs standardized to 224 × 224 × 3 pixels.</a:t>
            </a:r>
          </a:p>
          <a:p>
            <a:pPr>
              <a:spcBef>
                <a:spcPts val="400"/>
              </a:spcBef>
            </a:pPr>
            <a:r>
              <a:rPr b="1" sz="1050">
                <a:solidFill>
                  <a:srgbClr val="1E293B"/>
                </a:solidFill>
              </a:rPr>
              <a:t>• Crop &amp; Disease Classes: </a:t>
            </a:r>
            <a:r>
              <a:rPr sz="1000">
                <a:solidFill>
                  <a:srgbClr val="475569"/>
                </a:solidFill>
              </a:rPr>
              <a:t>11 classes across 3 crops:
  • Grape: Black rot, Esca (Black Measles), Leaf blight, Healthy
  • Potato: Early blight, Late blight, Healthy
  • Tomato: Bacterial spot, Early blight, Late blight, Healthy</a:t>
            </a:r>
          </a:p>
          <a:p>
            <a:pPr>
              <a:spcBef>
                <a:spcPts val="400"/>
              </a:spcBef>
            </a:pPr>
            <a:r>
              <a:rPr b="1" sz="1050">
                <a:solidFill>
                  <a:srgbClr val="1E293B"/>
                </a:solidFill>
              </a:rPr>
              <a:t>• Preprocessing: </a:t>
            </a:r>
            <a:r>
              <a:rPr sz="1000">
                <a:solidFill>
                  <a:srgbClr val="475569"/>
                </a:solidFill>
              </a:rPr>
              <a:t>Image normalization [0, 1], channel alignment, bilinear resizing.</a:t>
            </a:r>
          </a:p>
          <a:p>
            <a:pPr>
              <a:spcBef>
                <a:spcPts val="400"/>
              </a:spcBef>
            </a:pPr>
            <a:r>
              <a:rPr b="1" sz="1050">
                <a:solidFill>
                  <a:srgbClr val="1E293B"/>
                </a:solidFill>
              </a:rPr>
              <a:t>• Training &amp; Evaluation Split: </a:t>
            </a:r>
            <a:r>
              <a:rPr sz="1000">
                <a:solidFill>
                  <a:srgbClr val="475569"/>
                </a:solidFill>
              </a:rPr>
              <a:t>Training data (80%) and held-out evaluation data (20%). Model coverage strictly determines supported diagnosis classes.</a:t>
            </a:r>
          </a:p>
        </p:txBody>
      </p:sp>
      <p:pic>
        <p:nvPicPr>
          <p:cNvPr id="10" name="Picture 9" descr="tomato_early_blight_sample_1.jpg"/>
          <p:cNvPicPr>
            <a:picLocks noChangeAspect="1"/>
          </p:cNvPicPr>
          <p:nvPr/>
        </p:nvPicPr>
        <p:blipFill>
          <a:blip r:embed="rId3"/>
          <a:stretch>
            <a:fillRect/>
          </a:stretch>
        </p:blipFill>
        <p:spPr>
          <a:xfrm>
            <a:off x="10241280" y="1508760"/>
            <a:ext cx="1005840" cy="1005840"/>
          </a:xfrm>
          <a:prstGeom prst="rect">
            <a:avLst/>
          </a:prstGeom>
        </p:spPr>
      </p:pic>
      <p:sp>
        <p:nvSpPr>
          <p:cNvPr id="11" name="Rounded Rectangle 10"/>
          <p:cNvSpPr/>
          <p:nvPr/>
        </p:nvSpPr>
        <p:spPr>
          <a:xfrm>
            <a:off x="731520" y="4983480"/>
            <a:ext cx="10698480" cy="1234440"/>
          </a:xfrm>
          <a:prstGeom prst="roundRect">
            <a:avLst/>
          </a:prstGeom>
          <a:solidFill>
            <a:srgbClr val="EAF5EE"/>
          </a:solidFill>
          <a:ln w="1270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B4332"/>
                </a:solidFill>
              </a:defRPr>
            </a:pPr>
            <a:r>
              <a:t>DATASET PIPELINE FLOW</a:t>
            </a:r>
          </a:p>
          <a:p>
            <a:pPr algn="ctr">
              <a:spcBef>
                <a:spcPts val="400"/>
              </a:spcBef>
              <a:defRPr sz="1200" b="1">
                <a:solidFill>
                  <a:srgbClr val="1E293B"/>
                </a:solidFill>
              </a:defRPr>
            </a:pPr>
            <a:r>
              <a:t>DATASET  →  PREPROCESSING  →  TRAIN / TEST SPLIT  →  MODEL TRAINING  →  EVALUATION  →  SAVED MODEL</a:t>
            </a:r>
          </a:p>
          <a:p>
            <a:pPr algn="ctr">
              <a:spcBef>
                <a:spcPts val="300"/>
              </a:spcBef>
              <a:defRPr sz="950" i="1">
                <a:solidFill>
                  <a:srgbClr val="475569"/>
                </a:solidFill>
              </a:defRPr>
            </a:pPr>
            <a:r>
              <a:t>Note: Dataset coverage defines the system boundary; unsupported crops or diseases are outside the current mid-semester model scope.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292608"/>
          </a:xfrm>
          <a:prstGeom prst="rect">
            <a:avLst/>
          </a:prstGeom>
          <a:noFill/>
        </p:spPr>
        <p:txBody>
          <a:bodyPr wrap="square" lIns="0" tIns="0" rIns="0" bIns="0">
            <a:spAutoFit/>
          </a:bodyPr>
          <a:lstStyle/>
          <a:p>
            <a:pPr>
              <a:defRPr sz="1100" b="1">
                <a:solidFill>
                  <a:srgbClr val="40916C"/>
                </a:solidFill>
                <a:latin typeface="Segoe UI"/>
              </a:defRPr>
            </a:pPr>
            <a:r>
              <a:t>METHODOLOGY</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200" b="1">
                <a:solidFill>
                  <a:srgbClr val="1B4332"/>
                </a:solidFill>
                <a:latin typeface="Segoe UI"/>
              </a:defRPr>
            </a:pPr>
            <a:r>
              <a:t>Machine Learning Methodology</a:t>
            </a:r>
          </a:p>
        </p:txBody>
      </p:sp>
      <p:sp>
        <p:nvSpPr>
          <p:cNvPr id="4" name="Rectangle 3"/>
          <p:cNvSpPr/>
          <p:nvPr/>
        </p:nvSpPr>
        <p:spPr>
          <a:xfrm>
            <a:off x="731520" y="1188720"/>
            <a:ext cx="10058400" cy="13716"/>
          </a:xfrm>
          <a:prstGeom prst="rect">
            <a:avLst/>
          </a:prstGeom>
          <a:solidFill>
            <a:srgbClr val="D1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t_logo.png"/>
          <p:cNvPicPr>
            <a:picLocks noChangeAspect="1"/>
          </p:cNvPicPr>
          <p:nvPr/>
        </p:nvPicPr>
        <p:blipFill>
          <a:blip r:embed="rId2"/>
          <a:stretch>
            <a:fillRect/>
          </a:stretch>
        </p:blipFill>
        <p:spPr>
          <a:xfrm>
            <a:off x="11064240" y="320040"/>
            <a:ext cx="594360" cy="826305"/>
          </a:xfrm>
          <a:prstGeom prst="rect">
            <a:avLst/>
          </a:prstGeom>
        </p:spPr>
      </p:pic>
      <p:sp>
        <p:nvSpPr>
          <p:cNvPr id="6" name="Rounded Rectangle 5"/>
          <p:cNvSpPr/>
          <p:nvPr/>
        </p:nvSpPr>
        <p:spPr>
          <a:xfrm>
            <a:off x="731520" y="1371600"/>
            <a:ext cx="5212080" cy="489204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846320" cy="4572000"/>
          </a:xfrm>
          <a:prstGeom prst="rect">
            <a:avLst/>
          </a:prstGeom>
          <a:noFill/>
        </p:spPr>
        <p:txBody>
          <a:bodyPr wrap="square">
            <a:spAutoFit/>
          </a:bodyPr>
          <a:lstStyle/>
          <a:p>
            <a:pPr>
              <a:defRPr sz="1300" b="1">
                <a:solidFill>
                  <a:srgbClr val="1B4332"/>
                </a:solidFill>
              </a:defRPr>
            </a:pPr>
            <a:r>
              <a:t>CROP RECOMMENDATION</a:t>
            </a:r>
          </a:p>
          <a:p>
            <a:pPr>
              <a:spcBef>
                <a:spcPts val="400"/>
              </a:spcBef>
              <a:defRPr sz="1050">
                <a:solidFill>
                  <a:srgbClr val="1E293B"/>
                </a:solidFill>
              </a:defRPr>
            </a:pPr>
            <a:r>
              <a:t>Input Features [N, P, K, Temp, Humidity, pH, Rainfall]</a:t>
            </a:r>
            <a:br/>
            <a:r>
              <a:t>         ↓</a:t>
            </a:r>
            <a:br/>
            <a:r>
              <a:t>Feature Preprocessing &amp; Range Validation</a:t>
            </a:r>
            <a:br/>
            <a:r>
              <a:t>         ↓</a:t>
            </a:r>
            <a:br/>
            <a:r>
              <a:t>Model Exploration &amp; Benchmarking:</a:t>
            </a:r>
            <a:br/>
            <a:r>
              <a:t>  • Decision Tree (Baseline tree splitting)</a:t>
            </a:r>
            <a:br/>
            <a:r>
              <a:t>  • Random Forest (100 ensemble bagged trees)</a:t>
            </a:r>
            <a:br/>
            <a:r>
              <a:t>  • Gradient Boosting (Sequential error minimization)</a:t>
            </a:r>
            <a:br/>
            <a:r>
              <a:t>         ↓</a:t>
            </a:r>
            <a:br/>
            <a:r>
              <a:t>Model Evaluation (Stratified Split on Held-Out Test)</a:t>
            </a:r>
            <a:br/>
            <a:r>
              <a:t>         ↓</a:t>
            </a:r>
            <a:br/>
            <a:r>
              <a:t>Crop Prediction &amp; Probability Ranking</a:t>
            </a:r>
          </a:p>
          <a:p>
            <a:pPr>
              <a:spcBef>
                <a:spcPts val="200"/>
              </a:spcBef>
              <a:defRPr sz="1000">
                <a:solidFill>
                  <a:srgbClr val="475569"/>
                </a:solidFill>
              </a:defRPr>
            </a:pPr>
            <a:r>
              <a:t>• Model Comparison: Compared on accuracy, macro F1, and latency.</a:t>
            </a:r>
          </a:p>
          <a:p>
            <a:pPr>
              <a:spcBef>
                <a:spcPts val="200"/>
              </a:spcBef>
              <a:defRPr sz="1000">
                <a:solidFill>
                  <a:srgbClr val="475569"/>
                </a:solidFill>
              </a:defRPr>
            </a:pPr>
            <a:r>
              <a:t>• Confusion Matrix: Checked per-class misclassification patterns.</a:t>
            </a:r>
          </a:p>
          <a:p>
            <a:pPr>
              <a:spcBef>
                <a:spcPts val="200"/>
              </a:spcBef>
              <a:defRPr sz="1000">
                <a:solidFill>
                  <a:srgbClr val="475569"/>
                </a:solidFill>
              </a:defRPr>
            </a:pPr>
            <a:r>
              <a:t>• Feature Importance: Humidity and rainfall showed highest gain.</a:t>
            </a:r>
          </a:p>
          <a:p>
            <a:pPr>
              <a:spcBef>
                <a:spcPts val="200"/>
              </a:spcBef>
              <a:defRPr sz="1000">
                <a:solidFill>
                  <a:srgbClr val="475569"/>
                </a:solidFill>
              </a:defRPr>
            </a:pPr>
            <a:r>
              <a:t>• Saved Artifacts: Scaler and model serialized in .joblib bundle.</a:t>
            </a:r>
          </a:p>
        </p:txBody>
      </p:sp>
      <p:sp>
        <p:nvSpPr>
          <p:cNvPr id="8" name="Rounded Rectangle 7"/>
          <p:cNvSpPr/>
          <p:nvPr/>
        </p:nvSpPr>
        <p:spPr>
          <a:xfrm>
            <a:off x="6217920" y="1371600"/>
            <a:ext cx="5212080" cy="489204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4572000"/>
          </a:xfrm>
          <a:prstGeom prst="rect">
            <a:avLst/>
          </a:prstGeom>
          <a:noFill/>
        </p:spPr>
        <p:txBody>
          <a:bodyPr wrap="square">
            <a:spAutoFit/>
          </a:bodyPr>
          <a:lstStyle/>
          <a:p>
            <a:pPr>
              <a:defRPr sz="1300" b="1">
                <a:solidFill>
                  <a:srgbClr val="1B4332"/>
                </a:solidFill>
              </a:defRPr>
            </a:pPr>
            <a:r>
              <a:t>DISEASE CLASSIFICATION &amp; GRAD-CAM</a:t>
            </a:r>
          </a:p>
          <a:p>
            <a:pPr>
              <a:spcBef>
                <a:spcPts val="400"/>
              </a:spcBef>
              <a:defRPr sz="1050">
                <a:solidFill>
                  <a:srgbClr val="1E293B"/>
                </a:solidFill>
              </a:defRPr>
            </a:pPr>
            <a:r>
              <a:t>Leaf Image (RGB Photo)</a:t>
            </a:r>
            <a:br/>
            <a:r>
              <a:t>         ↓</a:t>
            </a:r>
            <a:br/>
            <a:r>
              <a:t>Image Preprocessing (224 × 224 Resizing &amp; [0, 1] Rescaling)</a:t>
            </a:r>
            <a:br/>
            <a:r>
              <a:t>         ↓</a:t>
            </a:r>
            <a:br/>
            <a:r>
              <a:t>Convolutional Backbone (MobileNetV2 Transfer Learning)</a:t>
            </a:r>
            <a:br/>
            <a:r>
              <a:t>         ↓</a:t>
            </a:r>
            <a:br/>
            <a:r>
              <a:t>Dense Head + Softmax (11 Crop-Disease Classes)</a:t>
            </a:r>
            <a:br/>
            <a:r>
              <a:t>         ↓</a:t>
            </a:r>
            <a:br/>
            <a:r>
              <a:t>Disease Prediction  +  Grad-CAM Visual Heatmap</a:t>
            </a:r>
          </a:p>
          <a:p>
            <a:pPr>
              <a:spcBef>
                <a:spcPts val="600"/>
              </a:spcBef>
              <a:defRPr sz="1100" b="1">
                <a:solidFill>
                  <a:srgbClr val="1B4332"/>
                </a:solidFill>
              </a:defRPr>
            </a:pPr>
            <a:r>
              <a:t>Grad-CAM Explainability:</a:t>
            </a:r>
          </a:p>
          <a:p>
            <a:pPr>
              <a:defRPr sz="1050" i="1">
                <a:solidFill>
                  <a:srgbClr val="1E293B"/>
                </a:solidFill>
              </a:defRPr>
            </a:pPr>
            <a:r>
              <a:t>"Grad-CAM highlights image regions that contribute to the predicted disease class, verifying that the model focuses on actual leaf lesions rather than background noise."</a:t>
            </a:r>
          </a:p>
        </p:txBody>
      </p:sp>
      <p:pic>
        <p:nvPicPr>
          <p:cNvPr id="10" name="Picture 9" descr="tomato_early_blight_sample_1.jpg"/>
          <p:cNvPicPr>
            <a:picLocks noChangeAspect="1"/>
          </p:cNvPicPr>
          <p:nvPr/>
        </p:nvPicPr>
        <p:blipFill>
          <a:blip r:embed="rId3"/>
          <a:stretch>
            <a:fillRect/>
          </a:stretch>
        </p:blipFill>
        <p:spPr>
          <a:xfrm>
            <a:off x="6675120" y="4983480"/>
            <a:ext cx="1097280" cy="1097280"/>
          </a:xfrm>
          <a:prstGeom prst="rect">
            <a:avLst/>
          </a:prstGeom>
        </p:spPr>
      </p:pic>
      <p:pic>
        <p:nvPicPr>
          <p:cNvPr id="11" name="Picture 10" descr="gradcam_tomato_early_blight_sample_1_1790276680.png"/>
          <p:cNvPicPr>
            <a:picLocks noChangeAspect="1"/>
          </p:cNvPicPr>
          <p:nvPr/>
        </p:nvPicPr>
        <p:blipFill>
          <a:blip r:embed="rId4"/>
          <a:stretch>
            <a:fillRect/>
          </a:stretch>
        </p:blipFill>
        <p:spPr>
          <a:xfrm>
            <a:off x="8229600" y="4983480"/>
            <a:ext cx="1097280" cy="1097280"/>
          </a:xfrm>
          <a:prstGeom prst="rect">
            <a:avLst/>
          </a:prstGeom>
        </p:spPr>
      </p:pic>
      <p:sp>
        <p:nvSpPr>
          <p:cNvPr id="12" name="TextBox 11"/>
          <p:cNvSpPr txBox="1"/>
          <p:nvPr/>
        </p:nvSpPr>
        <p:spPr>
          <a:xfrm>
            <a:off x="9418320" y="5120640"/>
            <a:ext cx="1828800" cy="822960"/>
          </a:xfrm>
          <a:prstGeom prst="rect">
            <a:avLst/>
          </a:prstGeom>
          <a:noFill/>
        </p:spPr>
        <p:txBody>
          <a:bodyPr wrap="none">
            <a:spAutoFit/>
          </a:bodyPr>
          <a:lstStyle/>
          <a:p>
            <a:pPr>
              <a:defRPr sz="900">
                <a:solidFill>
                  <a:srgbClr val="475569"/>
                </a:solidFill>
              </a:defRPr>
            </a:pPr>
            <a:r>
              <a:t>Actual Output:</a:t>
            </a:r>
            <a:br/>
            <a:r>
              <a:t>Left: Input Leaf</a:t>
            </a:r>
            <a:br/>
            <a:r>
              <a:t>Right: Grad-CAM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292608"/>
          </a:xfrm>
          <a:prstGeom prst="rect">
            <a:avLst/>
          </a:prstGeom>
          <a:noFill/>
        </p:spPr>
        <p:txBody>
          <a:bodyPr wrap="square" lIns="0" tIns="0" rIns="0" bIns="0">
            <a:spAutoFit/>
          </a:bodyPr>
          <a:lstStyle/>
          <a:p>
            <a:pPr>
              <a:defRPr sz="1100" b="1">
                <a:solidFill>
                  <a:srgbClr val="40916C"/>
                </a:solidFill>
                <a:latin typeface="Segoe UI"/>
              </a:defRPr>
            </a:pPr>
            <a:r>
              <a:t>EXPERIMENTAL RESULTS</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200" b="1">
                <a:solidFill>
                  <a:srgbClr val="1B4332"/>
                </a:solidFill>
                <a:latin typeface="Segoe UI"/>
              </a:defRPr>
            </a:pPr>
            <a:r>
              <a:t>Current ML Results</a:t>
            </a:r>
          </a:p>
        </p:txBody>
      </p:sp>
      <p:sp>
        <p:nvSpPr>
          <p:cNvPr id="4" name="Rectangle 3"/>
          <p:cNvSpPr/>
          <p:nvPr/>
        </p:nvSpPr>
        <p:spPr>
          <a:xfrm>
            <a:off x="731520" y="1188720"/>
            <a:ext cx="10058400" cy="13716"/>
          </a:xfrm>
          <a:prstGeom prst="rect">
            <a:avLst/>
          </a:prstGeom>
          <a:solidFill>
            <a:srgbClr val="D1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t_logo.png"/>
          <p:cNvPicPr>
            <a:picLocks noChangeAspect="1"/>
          </p:cNvPicPr>
          <p:nvPr/>
        </p:nvPicPr>
        <p:blipFill>
          <a:blip r:embed="rId2"/>
          <a:stretch>
            <a:fillRect/>
          </a:stretch>
        </p:blipFill>
        <p:spPr>
          <a:xfrm>
            <a:off x="11064240" y="320040"/>
            <a:ext cx="594360" cy="826305"/>
          </a:xfrm>
          <a:prstGeom prst="rect">
            <a:avLst/>
          </a:prstGeom>
        </p:spPr>
      </p:pic>
      <p:sp>
        <p:nvSpPr>
          <p:cNvPr id="6" name="TextBox 5"/>
          <p:cNvSpPr txBox="1"/>
          <p:nvPr/>
        </p:nvSpPr>
        <p:spPr>
          <a:xfrm>
            <a:off x="731520" y="1325880"/>
            <a:ext cx="10698480" cy="320040"/>
          </a:xfrm>
          <a:prstGeom prst="rect">
            <a:avLst/>
          </a:prstGeom>
          <a:noFill/>
        </p:spPr>
        <p:txBody>
          <a:bodyPr wrap="none">
            <a:spAutoFit/>
          </a:bodyPr>
          <a:lstStyle/>
          <a:p>
            <a:pPr>
              <a:defRPr sz="1300" b="1">
                <a:solidFill>
                  <a:srgbClr val="1B4332"/>
                </a:solidFill>
              </a:defRPr>
            </a:pPr>
            <a:r>
              <a:t>1. Crop Disease Classification Results (MobileNetV2, Held-Out Test Set)</a:t>
            </a:r>
          </a:p>
        </p:txBody>
      </p:sp>
      <p:sp>
        <p:nvSpPr>
          <p:cNvPr id="7" name="Rounded Rectangle 6"/>
          <p:cNvSpPr/>
          <p:nvPr/>
        </p:nvSpPr>
        <p:spPr>
          <a:xfrm>
            <a:off x="731520" y="1691640"/>
            <a:ext cx="3383280" cy="128016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1B4332"/>
                </a:solidFill>
              </a:defRPr>
            </a:pPr>
            <a:r>
              <a:t>58 / 66</a:t>
            </a:r>
          </a:p>
          <a:p>
            <a:pPr algn="ctr">
              <a:defRPr sz="1100" b="1">
                <a:solidFill>
                  <a:srgbClr val="1E293B"/>
                </a:solidFill>
              </a:defRPr>
            </a:pPr>
            <a:r>
              <a:t>Correct Predictions</a:t>
            </a:r>
          </a:p>
          <a:p>
            <a:pPr algn="ctr">
              <a:defRPr sz="950">
                <a:solidFill>
                  <a:srgbClr val="475569"/>
                </a:solidFill>
              </a:defRPr>
            </a:pPr>
            <a:r>
              <a:t>Held-out test images</a:t>
            </a:r>
          </a:p>
        </p:txBody>
      </p:sp>
      <p:sp>
        <p:nvSpPr>
          <p:cNvPr id="8" name="Rounded Rectangle 7"/>
          <p:cNvSpPr/>
          <p:nvPr/>
        </p:nvSpPr>
        <p:spPr>
          <a:xfrm>
            <a:off x="4389120" y="1691640"/>
            <a:ext cx="3383280" cy="128016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2D6A4F"/>
                </a:solidFill>
              </a:defRPr>
            </a:pPr>
            <a:r>
              <a:t>87.88%</a:t>
            </a:r>
          </a:p>
          <a:p>
            <a:pPr algn="ctr">
              <a:defRPr sz="1100" b="1">
                <a:solidFill>
                  <a:srgbClr val="1E293B"/>
                </a:solidFill>
              </a:defRPr>
            </a:pPr>
            <a:r>
              <a:t>Accuracy</a:t>
            </a:r>
          </a:p>
          <a:p>
            <a:pPr algn="ctr">
              <a:defRPr sz="950">
                <a:solidFill>
                  <a:srgbClr val="475569"/>
                </a:solidFill>
              </a:defRPr>
            </a:pPr>
            <a:r>
              <a:t>Overall classification accuracy</a:t>
            </a:r>
          </a:p>
        </p:txBody>
      </p:sp>
      <p:sp>
        <p:nvSpPr>
          <p:cNvPr id="9" name="Rounded Rectangle 8"/>
          <p:cNvSpPr/>
          <p:nvPr/>
        </p:nvSpPr>
        <p:spPr>
          <a:xfrm>
            <a:off x="8046720" y="1691640"/>
            <a:ext cx="3383280" cy="128016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40916C"/>
                </a:solidFill>
              </a:defRPr>
            </a:pPr>
            <a:r>
              <a:t>87.97%</a:t>
            </a:r>
          </a:p>
          <a:p>
            <a:pPr algn="ctr">
              <a:defRPr sz="1100" b="1">
                <a:solidFill>
                  <a:srgbClr val="1E293B"/>
                </a:solidFill>
              </a:defRPr>
            </a:pPr>
            <a:r>
              <a:t>Macro F1-Score</a:t>
            </a:r>
          </a:p>
          <a:p>
            <a:pPr algn="ctr">
              <a:defRPr sz="950">
                <a:solidFill>
                  <a:srgbClr val="475569"/>
                </a:solidFill>
              </a:defRPr>
            </a:pPr>
            <a:r>
              <a:t>Balanced across 11 classes</a:t>
            </a:r>
          </a:p>
        </p:txBody>
      </p:sp>
      <p:sp>
        <p:nvSpPr>
          <p:cNvPr id="10" name="Rounded Rectangle 9"/>
          <p:cNvSpPr/>
          <p:nvPr/>
        </p:nvSpPr>
        <p:spPr>
          <a:xfrm>
            <a:off x="731520" y="3063240"/>
            <a:ext cx="10698480" cy="45720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2400E"/>
                </a:solidFill>
              </a:defRPr>
            </a:pPr>
            <a:r>
              <a:t>Note: Evaluation is based on the current held-out test set and does not guarantee the same performance on arbitrary field photographs.</a:t>
            </a:r>
          </a:p>
        </p:txBody>
      </p:sp>
      <p:sp>
        <p:nvSpPr>
          <p:cNvPr id="11" name="TextBox 10"/>
          <p:cNvSpPr txBox="1"/>
          <p:nvPr/>
        </p:nvSpPr>
        <p:spPr>
          <a:xfrm>
            <a:off x="731520" y="3611880"/>
            <a:ext cx="10698480" cy="320040"/>
          </a:xfrm>
          <a:prstGeom prst="rect">
            <a:avLst/>
          </a:prstGeom>
          <a:noFill/>
        </p:spPr>
        <p:txBody>
          <a:bodyPr wrap="none">
            <a:spAutoFit/>
          </a:bodyPr>
          <a:lstStyle/>
          <a:p>
            <a:pPr>
              <a:defRPr sz="1300" b="1">
                <a:solidFill>
                  <a:srgbClr val="1B4332"/>
                </a:solidFill>
              </a:defRPr>
            </a:pPr>
            <a:r>
              <a:t>2. Crop Recommendation Model Comparison (Saved Evaluation Artifacts, N = 440 Held-Out Samples)</a:t>
            </a:r>
          </a:p>
        </p:txBody>
      </p:sp>
      <p:graphicFrame>
        <p:nvGraphicFramePr>
          <p:cNvPr id="12" name="Table 11"/>
          <p:cNvGraphicFramePr>
            <a:graphicFrameLocks noGrp="1"/>
          </p:cNvGraphicFramePr>
          <p:nvPr/>
        </p:nvGraphicFramePr>
        <p:xfrm>
          <a:off x="731520" y="3977639"/>
          <a:ext cx="10698480" cy="1371600"/>
        </p:xfrm>
        <a:graphic>
          <a:graphicData uri="http://schemas.openxmlformats.org/drawingml/2006/table">
            <a:tbl>
              <a:tblPr firstRow="1" bandRow="1">
                <a:tableStyleId>{5C22544A-7EE6-4342-B048-85BDC9FD1C3A}</a:tableStyleId>
              </a:tblPr>
              <a:tblGrid>
                <a:gridCol w="2468880"/>
                <a:gridCol w="1280160"/>
                <a:gridCol w="1280160"/>
                <a:gridCol w="1280160"/>
                <a:gridCol w="1280160"/>
                <a:gridCol w="1280160"/>
                <a:gridCol w="1828800"/>
              </a:tblGrid>
              <a:tr h="342900">
                <a:tc>
                  <a:txBody>
                    <a:bodyPr/>
                    <a:lstStyle/>
                    <a:p>
                      <a:pPr algn="ctr">
                        <a:defRPr sz="1050" b="1">
                          <a:solidFill>
                            <a:srgbClr val="1B4332"/>
                          </a:solidFill>
                        </a:defRPr>
                      </a:pPr>
                      <a:r>
                        <a:t>Model Evaluated</a:t>
                      </a:r>
                    </a:p>
                  </a:txBody>
                  <a:tcPr>
                    <a:solidFill>
                      <a:srgbClr val="EAF5EE"/>
                    </a:solidFill>
                  </a:tcPr>
                </a:tc>
                <a:tc>
                  <a:txBody>
                    <a:bodyPr/>
                    <a:lstStyle/>
                    <a:p>
                      <a:pPr algn="ctr">
                        <a:defRPr sz="1050" b="1">
                          <a:solidFill>
                            <a:srgbClr val="1B4332"/>
                          </a:solidFill>
                        </a:defRPr>
                      </a:pPr>
                      <a:r>
                        <a:t>Accuracy</a:t>
                      </a:r>
                    </a:p>
                  </a:txBody>
                  <a:tcPr>
                    <a:solidFill>
                      <a:srgbClr val="EAF5EE"/>
                    </a:solidFill>
                  </a:tcPr>
                </a:tc>
                <a:tc>
                  <a:txBody>
                    <a:bodyPr/>
                    <a:lstStyle/>
                    <a:p>
                      <a:pPr algn="ctr">
                        <a:defRPr sz="1050" b="1">
                          <a:solidFill>
                            <a:srgbClr val="1B4332"/>
                          </a:solidFill>
                        </a:defRPr>
                      </a:pPr>
                      <a:r>
                        <a:t>Macro F1</a:t>
                      </a:r>
                    </a:p>
                  </a:txBody>
                  <a:tcPr>
                    <a:solidFill>
                      <a:srgbClr val="EAF5EE"/>
                    </a:solidFill>
                  </a:tcPr>
                </a:tc>
                <a:tc>
                  <a:txBody>
                    <a:bodyPr/>
                    <a:lstStyle/>
                    <a:p>
                      <a:pPr algn="ctr">
                        <a:defRPr sz="1050" b="1">
                          <a:solidFill>
                            <a:srgbClr val="1B4332"/>
                          </a:solidFill>
                        </a:defRPr>
                      </a:pPr>
                      <a:r>
                        <a:t>Train Time</a:t>
                      </a:r>
                    </a:p>
                  </a:txBody>
                  <a:tcPr>
                    <a:solidFill>
                      <a:srgbClr val="EAF5EE"/>
                    </a:solidFill>
                  </a:tcPr>
                </a:tc>
                <a:tc>
                  <a:txBody>
                    <a:bodyPr/>
                    <a:lstStyle/>
                    <a:p>
                      <a:pPr algn="ctr">
                        <a:defRPr sz="1050" b="1">
                          <a:solidFill>
                            <a:srgbClr val="1B4332"/>
                          </a:solidFill>
                        </a:defRPr>
                      </a:pPr>
                      <a:r>
                        <a:t>Inference</a:t>
                      </a:r>
                    </a:p>
                  </a:txBody>
                  <a:tcPr>
                    <a:solidFill>
                      <a:srgbClr val="EAF5EE"/>
                    </a:solidFill>
                  </a:tcPr>
                </a:tc>
                <a:tc>
                  <a:txBody>
                    <a:bodyPr/>
                    <a:lstStyle/>
                    <a:p>
                      <a:pPr algn="ctr">
                        <a:defRPr sz="1050" b="1">
                          <a:solidFill>
                            <a:srgbClr val="1B4332"/>
                          </a:solidFill>
                        </a:defRPr>
                      </a:pPr>
                      <a:r>
                        <a:t>Top Feature</a:t>
                      </a:r>
                    </a:p>
                  </a:txBody>
                  <a:tcPr>
                    <a:solidFill>
                      <a:srgbClr val="EAF5EE"/>
                    </a:solidFill>
                  </a:tcPr>
                </a:tc>
                <a:tc>
                  <a:txBody>
                    <a:bodyPr/>
                    <a:lstStyle/>
                    <a:p>
                      <a:pPr algn="ctr">
                        <a:defRPr sz="1050" b="1">
                          <a:solidFill>
                            <a:srgbClr val="1B4332"/>
                          </a:solidFill>
                        </a:defRPr>
                      </a:pPr>
                      <a:r>
                        <a:t>Artifact Stored</a:t>
                      </a:r>
                    </a:p>
                  </a:txBody>
                  <a:tcPr>
                    <a:solidFill>
                      <a:srgbClr val="EAF5EE"/>
                    </a:solidFill>
                  </a:tcPr>
                </a:tc>
              </a:tr>
              <a:tr h="342900">
                <a:tc>
                  <a:txBody>
                    <a:bodyPr/>
                    <a:lstStyle/>
                    <a:p>
                      <a:pPr algn="l">
                        <a:defRPr sz="1050" b="0">
                          <a:solidFill>
                            <a:srgbClr val="1E293B"/>
                          </a:solidFill>
                        </a:defRPr>
                      </a:pPr>
                      <a:r>
                        <a:t>Decision Tree</a:t>
                      </a:r>
                    </a:p>
                  </a:txBody>
                  <a:tcPr>
                    <a:solidFill>
                      <a:srgbClr val="FFFFFF"/>
                    </a:solidFill>
                  </a:tcPr>
                </a:tc>
                <a:tc>
                  <a:txBody>
                    <a:bodyPr/>
                    <a:lstStyle/>
                    <a:p>
                      <a:pPr algn="ctr">
                        <a:defRPr sz="1050" b="0">
                          <a:solidFill>
                            <a:srgbClr val="1E293B"/>
                          </a:solidFill>
                        </a:defRPr>
                      </a:pPr>
                      <a:r>
                        <a:t>97.95%</a:t>
                      </a:r>
                    </a:p>
                  </a:txBody>
                  <a:tcPr>
                    <a:solidFill>
                      <a:srgbClr val="FFFFFF"/>
                    </a:solidFill>
                  </a:tcPr>
                </a:tc>
                <a:tc>
                  <a:txBody>
                    <a:bodyPr/>
                    <a:lstStyle/>
                    <a:p>
                      <a:pPr algn="ctr">
                        <a:defRPr sz="1050" b="0">
                          <a:solidFill>
                            <a:srgbClr val="1E293B"/>
                          </a:solidFill>
                        </a:defRPr>
                      </a:pPr>
                      <a:r>
                        <a:t>97.94%</a:t>
                      </a:r>
                    </a:p>
                  </a:txBody>
                  <a:tcPr>
                    <a:solidFill>
                      <a:srgbClr val="FFFFFF"/>
                    </a:solidFill>
                  </a:tcPr>
                </a:tc>
                <a:tc>
                  <a:txBody>
                    <a:bodyPr/>
                    <a:lstStyle/>
                    <a:p>
                      <a:pPr algn="ctr">
                        <a:defRPr sz="1050" b="0">
                          <a:solidFill>
                            <a:srgbClr val="1E293B"/>
                          </a:solidFill>
                        </a:defRPr>
                      </a:pPr>
                      <a:r>
                        <a:t>0.010 s</a:t>
                      </a:r>
                    </a:p>
                  </a:txBody>
                  <a:tcPr>
                    <a:solidFill>
                      <a:srgbClr val="FFFFFF"/>
                    </a:solidFill>
                  </a:tcPr>
                </a:tc>
                <a:tc>
                  <a:txBody>
                    <a:bodyPr/>
                    <a:lstStyle/>
                    <a:p>
                      <a:pPr algn="ctr">
                        <a:defRPr sz="1050" b="0">
                          <a:solidFill>
                            <a:srgbClr val="1E293B"/>
                          </a:solidFill>
                        </a:defRPr>
                      </a:pPr>
                      <a:r>
                        <a:t>0.0008 s</a:t>
                      </a:r>
                    </a:p>
                  </a:txBody>
                  <a:tcPr>
                    <a:solidFill>
                      <a:srgbClr val="FFFFFF"/>
                    </a:solidFill>
                  </a:tcPr>
                </a:tc>
                <a:tc>
                  <a:txBody>
                    <a:bodyPr/>
                    <a:lstStyle/>
                    <a:p>
                      <a:pPr algn="ctr">
                        <a:defRPr sz="1050" b="0">
                          <a:solidFill>
                            <a:srgbClr val="1E293B"/>
                          </a:solidFill>
                        </a:defRPr>
                      </a:pPr>
                      <a:r>
                        <a:t>Rainfall (30.4%)</a:t>
                      </a:r>
                    </a:p>
                  </a:txBody>
                  <a:tcPr>
                    <a:solidFill>
                      <a:srgbClr val="FFFFFF"/>
                    </a:solidFill>
                  </a:tcPr>
                </a:tc>
                <a:tc>
                  <a:txBody>
                    <a:bodyPr/>
                    <a:lstStyle/>
                    <a:p>
                      <a:pPr algn="ctr">
                        <a:defRPr sz="1050" b="0">
                          <a:solidFill>
                            <a:srgbClr val="1E293B"/>
                          </a:solidFill>
                        </a:defRPr>
                      </a:pPr>
                      <a:r>
                        <a:t>decision_tree.joblib</a:t>
                      </a:r>
                    </a:p>
                  </a:txBody>
                  <a:tcPr>
                    <a:solidFill>
                      <a:srgbClr val="FFFFFF"/>
                    </a:solidFill>
                  </a:tcPr>
                </a:tc>
              </a:tr>
              <a:tr h="342900">
                <a:tc>
                  <a:txBody>
                    <a:bodyPr/>
                    <a:lstStyle/>
                    <a:p>
                      <a:pPr algn="l">
                        <a:defRPr sz="1050" b="1">
                          <a:solidFill>
                            <a:srgbClr val="1B4332"/>
                          </a:solidFill>
                        </a:defRPr>
                      </a:pPr>
                      <a:r>
                        <a:t>Random Forest (Selected)</a:t>
                      </a:r>
                    </a:p>
                  </a:txBody>
                  <a:tcPr>
                    <a:solidFill>
                      <a:srgbClr val="EAF5EE"/>
                    </a:solidFill>
                  </a:tcPr>
                </a:tc>
                <a:tc>
                  <a:txBody>
                    <a:bodyPr/>
                    <a:lstStyle/>
                    <a:p>
                      <a:pPr algn="ctr">
                        <a:defRPr sz="1050" b="1">
                          <a:solidFill>
                            <a:srgbClr val="1B4332"/>
                          </a:solidFill>
                        </a:defRPr>
                      </a:pPr>
                      <a:r>
                        <a:t>99.55%</a:t>
                      </a:r>
                    </a:p>
                  </a:txBody>
                  <a:tcPr>
                    <a:solidFill>
                      <a:srgbClr val="EAF5EE"/>
                    </a:solidFill>
                  </a:tcPr>
                </a:tc>
                <a:tc>
                  <a:txBody>
                    <a:bodyPr/>
                    <a:lstStyle/>
                    <a:p>
                      <a:pPr algn="ctr">
                        <a:defRPr sz="1050" b="1">
                          <a:solidFill>
                            <a:srgbClr val="1B4332"/>
                          </a:solidFill>
                        </a:defRPr>
                      </a:pPr>
                      <a:r>
                        <a:t>99.55%</a:t>
                      </a:r>
                    </a:p>
                  </a:txBody>
                  <a:tcPr>
                    <a:solidFill>
                      <a:srgbClr val="EAF5EE"/>
                    </a:solidFill>
                  </a:tcPr>
                </a:tc>
                <a:tc>
                  <a:txBody>
                    <a:bodyPr/>
                    <a:lstStyle/>
                    <a:p>
                      <a:pPr algn="ctr">
                        <a:defRPr sz="1050" b="1">
                          <a:solidFill>
                            <a:srgbClr val="1B4332"/>
                          </a:solidFill>
                        </a:defRPr>
                      </a:pPr>
                      <a:r>
                        <a:t>0.223 s</a:t>
                      </a:r>
                    </a:p>
                  </a:txBody>
                  <a:tcPr>
                    <a:solidFill>
                      <a:srgbClr val="EAF5EE"/>
                    </a:solidFill>
                  </a:tcPr>
                </a:tc>
                <a:tc>
                  <a:txBody>
                    <a:bodyPr/>
                    <a:lstStyle/>
                    <a:p>
                      <a:pPr algn="ctr">
                        <a:defRPr sz="1050" b="1">
                          <a:solidFill>
                            <a:srgbClr val="1B4332"/>
                          </a:solidFill>
                        </a:defRPr>
                      </a:pPr>
                      <a:r>
                        <a:t>0.1052 s</a:t>
                      </a:r>
                    </a:p>
                  </a:txBody>
                  <a:tcPr>
                    <a:solidFill>
                      <a:srgbClr val="EAF5EE"/>
                    </a:solidFill>
                  </a:tcPr>
                </a:tc>
                <a:tc>
                  <a:txBody>
                    <a:bodyPr/>
                    <a:lstStyle/>
                    <a:p>
                      <a:pPr algn="ctr">
                        <a:defRPr sz="1050" b="1">
                          <a:solidFill>
                            <a:srgbClr val="1B4332"/>
                          </a:solidFill>
                        </a:defRPr>
                      </a:pPr>
                      <a:r>
                        <a:t>Humidity (22.8%)</a:t>
                      </a:r>
                    </a:p>
                  </a:txBody>
                  <a:tcPr>
                    <a:solidFill>
                      <a:srgbClr val="EAF5EE"/>
                    </a:solidFill>
                  </a:tcPr>
                </a:tc>
                <a:tc>
                  <a:txBody>
                    <a:bodyPr/>
                    <a:lstStyle/>
                    <a:p>
                      <a:pPr algn="ctr">
                        <a:defRPr sz="1050" b="1">
                          <a:solidFill>
                            <a:srgbClr val="1B4332"/>
                          </a:solidFill>
                        </a:defRPr>
                      </a:pPr>
                      <a:r>
                        <a:t>random_forest.joblib</a:t>
                      </a:r>
                    </a:p>
                  </a:txBody>
                  <a:tcPr>
                    <a:solidFill>
                      <a:srgbClr val="EAF5EE"/>
                    </a:solidFill>
                  </a:tcPr>
                </a:tc>
              </a:tr>
              <a:tr h="342900">
                <a:tc>
                  <a:txBody>
                    <a:bodyPr/>
                    <a:lstStyle/>
                    <a:p>
                      <a:pPr algn="l">
                        <a:defRPr sz="1050" b="0">
                          <a:solidFill>
                            <a:srgbClr val="1E293B"/>
                          </a:solidFill>
                        </a:defRPr>
                      </a:pPr>
                      <a:r>
                        <a:t>Gradient Boosting</a:t>
                      </a:r>
                    </a:p>
                  </a:txBody>
                  <a:tcPr>
                    <a:solidFill>
                      <a:srgbClr val="FFFFFF"/>
                    </a:solidFill>
                  </a:tcPr>
                </a:tc>
                <a:tc>
                  <a:txBody>
                    <a:bodyPr/>
                    <a:lstStyle/>
                    <a:p>
                      <a:pPr algn="ctr">
                        <a:defRPr sz="1050" b="0">
                          <a:solidFill>
                            <a:srgbClr val="1E293B"/>
                          </a:solidFill>
                        </a:defRPr>
                      </a:pPr>
                      <a:r>
                        <a:t>99.09%</a:t>
                      </a:r>
                    </a:p>
                  </a:txBody>
                  <a:tcPr>
                    <a:solidFill>
                      <a:srgbClr val="FFFFFF"/>
                    </a:solidFill>
                  </a:tcPr>
                </a:tc>
                <a:tc>
                  <a:txBody>
                    <a:bodyPr/>
                    <a:lstStyle/>
                    <a:p>
                      <a:pPr algn="ctr">
                        <a:defRPr sz="1050" b="0">
                          <a:solidFill>
                            <a:srgbClr val="1E293B"/>
                          </a:solidFill>
                        </a:defRPr>
                      </a:pPr>
                      <a:r>
                        <a:t>99.09%</a:t>
                      </a:r>
                    </a:p>
                  </a:txBody>
                  <a:tcPr>
                    <a:solidFill>
                      <a:srgbClr val="FFFFFF"/>
                    </a:solidFill>
                  </a:tcPr>
                </a:tc>
                <a:tc>
                  <a:txBody>
                    <a:bodyPr/>
                    <a:lstStyle/>
                    <a:p>
                      <a:pPr algn="ctr">
                        <a:defRPr sz="1050" b="0">
                          <a:solidFill>
                            <a:srgbClr val="1E293B"/>
                          </a:solidFill>
                        </a:defRPr>
                      </a:pPr>
                      <a:r>
                        <a:t>11.069 s</a:t>
                      </a:r>
                    </a:p>
                  </a:txBody>
                  <a:tcPr>
                    <a:solidFill>
                      <a:srgbClr val="FFFFFF"/>
                    </a:solidFill>
                  </a:tcPr>
                </a:tc>
                <a:tc>
                  <a:txBody>
                    <a:bodyPr/>
                    <a:lstStyle/>
                    <a:p>
                      <a:pPr algn="ctr">
                        <a:defRPr sz="1050" b="0">
                          <a:solidFill>
                            <a:srgbClr val="1E293B"/>
                          </a:solidFill>
                        </a:defRPr>
                      </a:pPr>
                      <a:r>
                        <a:t>0.0183 s</a:t>
                      </a:r>
                    </a:p>
                  </a:txBody>
                  <a:tcPr>
                    <a:solidFill>
                      <a:srgbClr val="FFFFFF"/>
                    </a:solidFill>
                  </a:tcPr>
                </a:tc>
                <a:tc>
                  <a:txBody>
                    <a:bodyPr/>
                    <a:lstStyle/>
                    <a:p>
                      <a:pPr algn="ctr">
                        <a:defRPr sz="1050" b="0">
                          <a:solidFill>
                            <a:srgbClr val="1E293B"/>
                          </a:solidFill>
                        </a:defRPr>
                      </a:pPr>
                      <a:r>
                        <a:t>Humidity (24.1%)</a:t>
                      </a:r>
                    </a:p>
                  </a:txBody>
                  <a:tcPr>
                    <a:solidFill>
                      <a:srgbClr val="FFFFFF"/>
                    </a:solidFill>
                  </a:tcPr>
                </a:tc>
                <a:tc>
                  <a:txBody>
                    <a:bodyPr/>
                    <a:lstStyle/>
                    <a:p>
                      <a:pPr algn="ctr">
                        <a:defRPr sz="1050" b="0">
                          <a:solidFill>
                            <a:srgbClr val="1E293B"/>
                          </a:solidFill>
                        </a:defRPr>
                      </a:pPr>
                      <a:r>
                        <a:t>gradient_boosting.joblib</a:t>
                      </a:r>
                    </a:p>
                  </a:txBody>
                  <a:tcPr>
                    <a:solidFill>
                      <a:srgbClr val="FFFFFF"/>
                    </a:solidFill>
                  </a:tcPr>
                </a:tc>
              </a:tr>
            </a:tbl>
          </a:graphicData>
        </a:graphic>
      </p:graphicFrame>
      <p:sp>
        <p:nvSpPr>
          <p:cNvPr id="13" name="TextBox 12"/>
          <p:cNvSpPr txBox="1"/>
          <p:nvPr/>
        </p:nvSpPr>
        <p:spPr>
          <a:xfrm>
            <a:off x="731520" y="5532120"/>
            <a:ext cx="10698480" cy="365760"/>
          </a:xfrm>
          <a:prstGeom prst="rect">
            <a:avLst/>
          </a:prstGeom>
          <a:noFill/>
        </p:spPr>
        <p:txBody>
          <a:bodyPr wrap="none">
            <a:spAutoFit/>
          </a:bodyPr>
          <a:lstStyle/>
          <a:p>
            <a:pPr>
              <a:defRPr sz="950">
                <a:solidFill>
                  <a:srgbClr val="475569"/>
                </a:solidFill>
              </a:defRPr>
            </a:pPr>
            <a:r>
              <a:t>Evaluation Summary: All metrics are derived from saved project evaluation artifacts (crop_model_comparison.json &amp; disease_model_metrics.json). Random Forest selected for production 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292608"/>
          </a:xfrm>
          <a:prstGeom prst="rect">
            <a:avLst/>
          </a:prstGeom>
          <a:noFill/>
        </p:spPr>
        <p:txBody>
          <a:bodyPr wrap="square" lIns="0" tIns="0" rIns="0" bIns="0">
            <a:spAutoFit/>
          </a:bodyPr>
          <a:lstStyle/>
          <a:p>
            <a:pPr>
              <a:defRPr sz="1100" b="1">
                <a:solidFill>
                  <a:srgbClr val="40916C"/>
                </a:solidFill>
                <a:latin typeface="Segoe UI"/>
              </a:defRPr>
            </a:pPr>
            <a:r>
              <a:t>APPLICATION WORKFLOW</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200" b="1">
                <a:solidFill>
                  <a:srgbClr val="1B4332"/>
                </a:solidFill>
                <a:latin typeface="Segoe UI"/>
              </a:defRPr>
            </a:pPr>
            <a:r>
              <a:t>Farmer Workflow</a:t>
            </a:r>
          </a:p>
        </p:txBody>
      </p:sp>
      <p:sp>
        <p:nvSpPr>
          <p:cNvPr id="4" name="Rectangle 3"/>
          <p:cNvSpPr/>
          <p:nvPr/>
        </p:nvSpPr>
        <p:spPr>
          <a:xfrm>
            <a:off x="731520" y="1188720"/>
            <a:ext cx="10058400" cy="13716"/>
          </a:xfrm>
          <a:prstGeom prst="rect">
            <a:avLst/>
          </a:prstGeom>
          <a:solidFill>
            <a:srgbClr val="D1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t_logo.png"/>
          <p:cNvPicPr>
            <a:picLocks noChangeAspect="1"/>
          </p:cNvPicPr>
          <p:nvPr/>
        </p:nvPicPr>
        <p:blipFill>
          <a:blip r:embed="rId2"/>
          <a:stretch>
            <a:fillRect/>
          </a:stretch>
        </p:blipFill>
        <p:spPr>
          <a:xfrm>
            <a:off x="11064240" y="320040"/>
            <a:ext cx="594360" cy="826305"/>
          </a:xfrm>
          <a:prstGeom prst="rect">
            <a:avLst/>
          </a:prstGeom>
        </p:spPr>
      </p:pic>
      <p:sp>
        <p:nvSpPr>
          <p:cNvPr id="6" name="Rounded Rectangle 5"/>
          <p:cNvSpPr/>
          <p:nvPr/>
        </p:nvSpPr>
        <p:spPr>
          <a:xfrm>
            <a:off x="731520" y="1371600"/>
            <a:ext cx="5212080" cy="338328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846320" cy="3108960"/>
          </a:xfrm>
          <a:prstGeom prst="rect">
            <a:avLst/>
          </a:prstGeom>
          <a:noFill/>
        </p:spPr>
        <p:txBody>
          <a:bodyPr wrap="square">
            <a:spAutoFit/>
          </a:bodyPr>
          <a:lstStyle/>
          <a:p>
            <a:pPr>
              <a:defRPr sz="1300" b="1">
                <a:solidFill>
                  <a:srgbClr val="1B4332"/>
                </a:solidFill>
              </a:defRPr>
            </a:pPr>
            <a:r>
              <a:t>NEW FARMER INTERACTION FLOW</a:t>
            </a:r>
          </a:p>
          <a:p>
            <a:pPr>
              <a:spcBef>
                <a:spcPts val="600"/>
              </a:spcBef>
              <a:defRPr sz="1100">
                <a:solidFill>
                  <a:srgbClr val="1E293B"/>
                </a:solidFill>
              </a:defRPr>
            </a:pPr>
            <a:r>
              <a:t>Register Account (Username, Password, Preferred Language)</a:t>
            </a:r>
            <a:br/>
            <a:r>
              <a:t>       ↓</a:t>
            </a:r>
            <a:br/>
            <a:r>
              <a:t>Set Up Farm Profile</a:t>
            </a:r>
            <a:br/>
            <a:r>
              <a:t>       ↓</a:t>
            </a:r>
            <a:br/>
            <a:r>
              <a:t>Enter Farm Details (Location, District, Area, Soil Type, Irrigation)</a:t>
            </a:r>
            <a:br/>
            <a:r>
              <a:t>       ↓</a:t>
            </a:r>
            <a:br/>
            <a:r>
              <a:t>Choose Action: Crop Recommendation  OR  Leaf Scanner</a:t>
            </a:r>
            <a:br/>
            <a:r>
              <a:t>       ↓</a:t>
            </a:r>
            <a:br/>
            <a:r>
              <a:t>Receive ML Prediction &amp; Actionable Advisory</a:t>
            </a:r>
            <a:br/>
            <a:r>
              <a:t>       ↓</a:t>
            </a:r>
            <a:br/>
            <a:r>
              <a:t>Save Result into Farm History</a:t>
            </a:r>
          </a:p>
        </p:txBody>
      </p:sp>
      <p:sp>
        <p:nvSpPr>
          <p:cNvPr id="8" name="Rounded Rectangle 7"/>
          <p:cNvSpPr/>
          <p:nvPr/>
        </p:nvSpPr>
        <p:spPr>
          <a:xfrm>
            <a:off x="6217920" y="1371600"/>
            <a:ext cx="5212080" cy="338328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3108960"/>
          </a:xfrm>
          <a:prstGeom prst="rect">
            <a:avLst/>
          </a:prstGeom>
          <a:noFill/>
        </p:spPr>
        <p:txBody>
          <a:bodyPr wrap="square">
            <a:spAutoFit/>
          </a:bodyPr>
          <a:lstStyle/>
          <a:p>
            <a:pPr>
              <a:defRPr sz="1300" b="1">
                <a:solidFill>
                  <a:srgbClr val="1B4332"/>
                </a:solidFill>
              </a:defRPr>
            </a:pPr>
            <a:r>
              <a:t>RETURNING FARMER WORKFLOW</a:t>
            </a:r>
          </a:p>
          <a:p>
            <a:pPr>
              <a:spcBef>
                <a:spcPts val="600"/>
              </a:spcBef>
              <a:defRPr sz="1100">
                <a:solidFill>
                  <a:srgbClr val="1E293B"/>
                </a:solidFill>
              </a:defRPr>
            </a:pPr>
            <a:r>
              <a:t>Login with Authenticated Credentials</a:t>
            </a:r>
            <a:br/>
            <a:r>
              <a:t>       ↓</a:t>
            </a:r>
            <a:br/>
            <a:r>
              <a:t>Load Existing Farm Profile (Persisted in SQLite Database)</a:t>
            </a:r>
            <a:br/>
            <a:r>
              <a:t>       ↓</a:t>
            </a:r>
            <a:br/>
            <a:r>
              <a:t>Review Previous Prediction History &amp; Seasonal Health Log</a:t>
            </a:r>
            <a:br/>
            <a:r>
              <a:t>       ↓</a:t>
            </a:r>
            <a:br/>
            <a:r>
              <a:t>Generate New Crop Recommendation  OR  Perform New Scan</a:t>
            </a:r>
            <a:br/>
            <a:r>
              <a:t>       ↓</a:t>
            </a:r>
            <a:br/>
            <a:r>
              <a:t>Automatic Association of New Predictions with Farm History</a:t>
            </a:r>
          </a:p>
        </p:txBody>
      </p:sp>
      <p:sp>
        <p:nvSpPr>
          <p:cNvPr id="10" name="Rounded Rectangle 9"/>
          <p:cNvSpPr/>
          <p:nvPr/>
        </p:nvSpPr>
        <p:spPr>
          <a:xfrm>
            <a:off x="731520" y="4892040"/>
            <a:ext cx="10698480" cy="1325880"/>
          </a:xfrm>
          <a:prstGeom prst="roundRect">
            <a:avLst/>
          </a:prstGeom>
          <a:solidFill>
            <a:srgbClr val="EAF5EE"/>
          </a:solidFill>
          <a:ln w="1270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956048"/>
            <a:ext cx="10332720" cy="1188720"/>
          </a:xfrm>
          <a:prstGeom prst="rect">
            <a:avLst/>
          </a:prstGeom>
          <a:noFill/>
        </p:spPr>
        <p:txBody>
          <a:bodyPr wrap="square">
            <a:spAutoFit/>
          </a:bodyPr>
          <a:lstStyle/>
          <a:p>
            <a:pPr>
              <a:defRPr sz="1200" b="1">
                <a:solidFill>
                  <a:srgbClr val="1B4332"/>
                </a:solidFill>
              </a:defRPr>
            </a:pPr>
            <a:r>
              <a:t>Multilingual Support: English  |  Hindi (हिंदी)  |  Marathi (मराठी)</a:t>
            </a:r>
          </a:p>
          <a:p>
            <a:pPr>
              <a:spcBef>
                <a:spcPts val="400"/>
              </a:spcBef>
              <a:defRPr sz="1050">
                <a:solidFill>
                  <a:srgbClr val="1E293B"/>
                </a:solidFill>
              </a:defRPr>
            </a:pPr>
            <a:r>
              <a:t>• Account-Bound Farm Records: "Farm data and prediction history are linked to the authenticated farmer account."</a:t>
            </a:r>
            <a:br/>
            <a:r>
              <a:t>• Ethical Data Entry: If soil laboratory measurements are not known, the system does not fabricate synthetic N-P-K numbers; it guides the farmer transparently.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292608"/>
          </a:xfrm>
          <a:prstGeom prst="rect">
            <a:avLst/>
          </a:prstGeom>
          <a:noFill/>
        </p:spPr>
        <p:txBody>
          <a:bodyPr wrap="square" lIns="0" tIns="0" rIns="0" bIns="0">
            <a:spAutoFit/>
          </a:bodyPr>
          <a:lstStyle/>
          <a:p>
            <a:pPr>
              <a:defRPr sz="1100" b="1">
                <a:solidFill>
                  <a:srgbClr val="40916C"/>
                </a:solidFill>
                <a:latin typeface="Segoe UI"/>
              </a:defRPr>
            </a:pPr>
            <a:r>
              <a:t>CRITICAL APPRAISAL</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200" b="1">
                <a:solidFill>
                  <a:srgbClr val="1B4332"/>
                </a:solidFill>
                <a:latin typeface="Segoe UI"/>
              </a:defRPr>
            </a:pPr>
            <a:r>
              <a:t>Current Limitations</a:t>
            </a:r>
          </a:p>
        </p:txBody>
      </p:sp>
      <p:sp>
        <p:nvSpPr>
          <p:cNvPr id="4" name="Rectangle 3"/>
          <p:cNvSpPr/>
          <p:nvPr/>
        </p:nvSpPr>
        <p:spPr>
          <a:xfrm>
            <a:off x="731520" y="1188720"/>
            <a:ext cx="10058400" cy="13716"/>
          </a:xfrm>
          <a:prstGeom prst="rect">
            <a:avLst/>
          </a:prstGeom>
          <a:solidFill>
            <a:srgbClr val="D1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t_logo.png"/>
          <p:cNvPicPr>
            <a:picLocks noChangeAspect="1"/>
          </p:cNvPicPr>
          <p:nvPr/>
        </p:nvPicPr>
        <p:blipFill>
          <a:blip r:embed="rId2"/>
          <a:stretch>
            <a:fillRect/>
          </a:stretch>
        </p:blipFill>
        <p:spPr>
          <a:xfrm>
            <a:off x="11064240" y="320040"/>
            <a:ext cx="594360" cy="826305"/>
          </a:xfrm>
          <a:prstGeom prst="rect">
            <a:avLst/>
          </a:prstGeom>
        </p:spPr>
      </p:pic>
      <p:sp>
        <p:nvSpPr>
          <p:cNvPr id="6" name="TextBox 5"/>
          <p:cNvSpPr txBox="1"/>
          <p:nvPr/>
        </p:nvSpPr>
        <p:spPr>
          <a:xfrm>
            <a:off x="731520" y="1234440"/>
            <a:ext cx="10698480" cy="320040"/>
          </a:xfrm>
          <a:prstGeom prst="rect">
            <a:avLst/>
          </a:prstGeom>
          <a:noFill/>
        </p:spPr>
        <p:txBody>
          <a:bodyPr wrap="none">
            <a:spAutoFit/>
          </a:bodyPr>
          <a:lstStyle/>
          <a:p>
            <a:pPr>
              <a:defRPr sz="1200" b="1">
                <a:solidFill>
                  <a:srgbClr val="2D6A4F"/>
                </a:solidFill>
              </a:defRPr>
            </a:pPr>
            <a:r>
              <a:t>Current Development Constraints (Identified During Mid-Semester Evaluation)</a:t>
            </a:r>
          </a:p>
        </p:txBody>
      </p:sp>
      <p:sp>
        <p:nvSpPr>
          <p:cNvPr id="7" name="Rounded Rectangle 6"/>
          <p:cNvSpPr/>
          <p:nvPr/>
        </p:nvSpPr>
        <p:spPr>
          <a:xfrm>
            <a:off x="731520" y="1600200"/>
            <a:ext cx="5212080" cy="137160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09928"/>
            <a:ext cx="4846320" cy="1143000"/>
          </a:xfrm>
          <a:prstGeom prst="rect">
            <a:avLst/>
          </a:prstGeom>
          <a:noFill/>
        </p:spPr>
        <p:txBody>
          <a:bodyPr wrap="square">
            <a:spAutoFit/>
          </a:bodyPr>
          <a:lstStyle/>
          <a:p>
            <a:pPr>
              <a:defRPr sz="1100" b="1">
                <a:solidFill>
                  <a:srgbClr val="1B4332"/>
                </a:solidFill>
              </a:defRPr>
            </a:pPr>
            <a:r>
              <a:t>1. Disease Model Taxonomy Scope</a:t>
            </a:r>
          </a:p>
          <a:p>
            <a:pPr>
              <a:spcBef>
                <a:spcPts val="200"/>
              </a:spcBef>
              <a:defRPr sz="1000">
                <a:solidFill>
                  <a:srgbClr val="1E293B"/>
                </a:solidFill>
              </a:defRPr>
            </a:pPr>
            <a:r>
              <a:t>The disease classifier is bounded by the 11 classes present in the training dataset (across Grape, Potato, and Tomato). Diseases outside this scope or in other regional crops cannot be diagnosed at this stage.</a:t>
            </a:r>
          </a:p>
        </p:txBody>
      </p:sp>
      <p:sp>
        <p:nvSpPr>
          <p:cNvPr id="9" name="Rounded Rectangle 8"/>
          <p:cNvSpPr/>
          <p:nvPr/>
        </p:nvSpPr>
        <p:spPr>
          <a:xfrm>
            <a:off x="6217920" y="1600200"/>
            <a:ext cx="5212080" cy="137160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09928"/>
            <a:ext cx="4846320" cy="1143000"/>
          </a:xfrm>
          <a:prstGeom prst="rect">
            <a:avLst/>
          </a:prstGeom>
          <a:noFill/>
        </p:spPr>
        <p:txBody>
          <a:bodyPr wrap="square">
            <a:spAutoFit/>
          </a:bodyPr>
          <a:lstStyle/>
          <a:p>
            <a:pPr>
              <a:defRPr sz="1100" b="1">
                <a:solidFill>
                  <a:srgbClr val="1B4332"/>
                </a:solidFill>
              </a:defRPr>
            </a:pPr>
            <a:r>
              <a:t>2. Controlled Benchmark vs. Field Photography</a:t>
            </a:r>
          </a:p>
          <a:p>
            <a:pPr>
              <a:spcBef>
                <a:spcPts val="200"/>
              </a:spcBef>
              <a:defRPr sz="1000">
                <a:solidFill>
                  <a:srgbClr val="1E293B"/>
                </a:solidFill>
              </a:defRPr>
            </a:pPr>
            <a:r>
              <a:t>The 87.88% test accuracy was achieved on a held-out benchmark split. Real-world farm images introduce shadows, direct solar glare, background weeds, dirt residues, and camera blur which affect prediction confidence.</a:t>
            </a:r>
          </a:p>
        </p:txBody>
      </p:sp>
      <p:sp>
        <p:nvSpPr>
          <p:cNvPr id="11" name="Rounded Rectangle 10"/>
          <p:cNvSpPr/>
          <p:nvPr/>
        </p:nvSpPr>
        <p:spPr>
          <a:xfrm>
            <a:off x="731520" y="3108960"/>
            <a:ext cx="5212080" cy="137160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218688"/>
            <a:ext cx="4846320" cy="1143000"/>
          </a:xfrm>
          <a:prstGeom prst="rect">
            <a:avLst/>
          </a:prstGeom>
          <a:noFill/>
        </p:spPr>
        <p:txBody>
          <a:bodyPr wrap="square">
            <a:spAutoFit/>
          </a:bodyPr>
          <a:lstStyle/>
          <a:p>
            <a:pPr>
              <a:defRPr sz="1100" b="1">
                <a:solidFill>
                  <a:srgbClr val="1B4332"/>
                </a:solidFill>
              </a:defRPr>
            </a:pPr>
            <a:r>
              <a:t>3. Out-of-Distribution (OOD) Image Gating</a:t>
            </a:r>
          </a:p>
          <a:p>
            <a:pPr>
              <a:spcBef>
                <a:spcPts val="200"/>
              </a:spcBef>
              <a:defRPr sz="1000">
                <a:solidFill>
                  <a:srgbClr val="1E293B"/>
                </a:solidFill>
              </a:defRPr>
            </a:pPr>
            <a:r>
              <a:t>The system currently lacks a robust novelty detection layer. Uploading non-leaf images forces a classification within the 11 classes rather than triggering a graceful rejection.</a:t>
            </a:r>
          </a:p>
        </p:txBody>
      </p:sp>
      <p:sp>
        <p:nvSpPr>
          <p:cNvPr id="13" name="Rounded Rectangle 12"/>
          <p:cNvSpPr/>
          <p:nvPr/>
        </p:nvSpPr>
        <p:spPr>
          <a:xfrm>
            <a:off x="6217920" y="3108960"/>
            <a:ext cx="5212080" cy="137160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218688"/>
            <a:ext cx="4846320" cy="1143000"/>
          </a:xfrm>
          <a:prstGeom prst="rect">
            <a:avLst/>
          </a:prstGeom>
          <a:noFill/>
        </p:spPr>
        <p:txBody>
          <a:bodyPr wrap="square">
            <a:spAutoFit/>
          </a:bodyPr>
          <a:lstStyle/>
          <a:p>
            <a:pPr>
              <a:defRPr sz="1100" b="1">
                <a:solidFill>
                  <a:srgbClr val="1B4332"/>
                </a:solidFill>
              </a:defRPr>
            </a:pPr>
            <a:r>
              <a:t>4. Soil Data Availability Gap</a:t>
            </a:r>
          </a:p>
          <a:p>
            <a:pPr>
              <a:spcBef>
                <a:spcPts val="200"/>
              </a:spcBef>
              <a:defRPr sz="1000">
                <a:solidFill>
                  <a:srgbClr val="1E293B"/>
                </a:solidFill>
              </a:defRPr>
            </a:pPr>
            <a:r>
              <a:t>Accurate crop recommendation requires N, P, K, and pH values, which may not be available for smallholder farmers who have not had their soil tested in a laboratory.</a:t>
            </a:r>
          </a:p>
        </p:txBody>
      </p:sp>
      <p:sp>
        <p:nvSpPr>
          <p:cNvPr id="15" name="Rounded Rectangle 14"/>
          <p:cNvSpPr/>
          <p:nvPr/>
        </p:nvSpPr>
        <p:spPr>
          <a:xfrm>
            <a:off x="731520" y="4617720"/>
            <a:ext cx="5212080" cy="137160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727448"/>
            <a:ext cx="4846320" cy="1143000"/>
          </a:xfrm>
          <a:prstGeom prst="rect">
            <a:avLst/>
          </a:prstGeom>
          <a:noFill/>
        </p:spPr>
        <p:txBody>
          <a:bodyPr wrap="square">
            <a:spAutoFit/>
          </a:bodyPr>
          <a:lstStyle/>
          <a:p>
            <a:pPr>
              <a:defRPr sz="1100" b="1">
                <a:solidFill>
                  <a:srgbClr val="1B4332"/>
                </a:solidFill>
              </a:defRPr>
            </a:pPr>
            <a:r>
              <a:t>5. Absence of Automated Soil Card OCR</a:t>
            </a:r>
          </a:p>
          <a:p>
            <a:pPr>
              <a:spcBef>
                <a:spcPts val="200"/>
              </a:spcBef>
              <a:defRPr sz="1000">
                <a:solidFill>
                  <a:srgbClr val="1E293B"/>
                </a:solidFill>
              </a:defRPr>
            </a:pPr>
            <a:r>
              <a:t>Automatic optical character recognition (OCR) from photographed physical Soil Health Cards is not fully implemented yet, requiring manual data entry.</a:t>
            </a:r>
          </a:p>
        </p:txBody>
      </p:sp>
      <p:sp>
        <p:nvSpPr>
          <p:cNvPr id="17" name="Rounded Rectangle 16"/>
          <p:cNvSpPr/>
          <p:nvPr/>
        </p:nvSpPr>
        <p:spPr>
          <a:xfrm>
            <a:off x="6217920" y="4617720"/>
            <a:ext cx="5212080" cy="137160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727448"/>
            <a:ext cx="4846320" cy="1143000"/>
          </a:xfrm>
          <a:prstGeom prst="rect">
            <a:avLst/>
          </a:prstGeom>
          <a:noFill/>
        </p:spPr>
        <p:txBody>
          <a:bodyPr wrap="square">
            <a:spAutoFit/>
          </a:bodyPr>
          <a:lstStyle/>
          <a:p>
            <a:pPr>
              <a:defRPr sz="1100" b="1">
                <a:solidFill>
                  <a:srgbClr val="1B4332"/>
                </a:solidFill>
              </a:defRPr>
            </a:pPr>
            <a:r>
              <a:t>6. Requirement for Real-World Field Validation</a:t>
            </a:r>
          </a:p>
          <a:p>
            <a:pPr>
              <a:spcBef>
                <a:spcPts val="200"/>
              </a:spcBef>
              <a:defRPr sz="1000">
                <a:solidFill>
                  <a:srgbClr val="1E293B"/>
                </a:solidFill>
              </a:defRPr>
            </a:pPr>
            <a:r>
              <a:t>Agricultural advisories require structured agronomic validation across diverse agro-ecological zones before being used for large-scale field decisions.</a:t>
            </a:r>
          </a:p>
        </p:txBody>
      </p:sp>
      <p:sp>
        <p:nvSpPr>
          <p:cNvPr id="19" name="Rounded Rectangle 18"/>
          <p:cNvSpPr/>
          <p:nvPr/>
        </p:nvSpPr>
        <p:spPr>
          <a:xfrm>
            <a:off x="731520" y="5897880"/>
            <a:ext cx="10698480" cy="411480"/>
          </a:xfrm>
          <a:prstGeom prst="roundRect">
            <a:avLst/>
          </a:prstGeom>
          <a:solidFill>
            <a:srgbClr val="EA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B4332"/>
                </a:solidFill>
              </a:defRPr>
            </a:pPr>
            <a:r>
              <a:t>These constraints represent deliberate engineering focus areas identified at mid-sem, forming the basis of our end-semester roadmap.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8229600" cy="292608"/>
          </a:xfrm>
          <a:prstGeom prst="rect">
            <a:avLst/>
          </a:prstGeom>
          <a:noFill/>
        </p:spPr>
        <p:txBody>
          <a:bodyPr wrap="square" lIns="0" tIns="0" rIns="0" bIns="0">
            <a:spAutoFit/>
          </a:bodyPr>
          <a:lstStyle/>
          <a:p>
            <a:pPr>
              <a:defRPr sz="1100" b="1">
                <a:solidFill>
                  <a:srgbClr val="40916C"/>
                </a:solidFill>
                <a:latin typeface="Segoe UI"/>
              </a:defRPr>
            </a:pPr>
            <a:r>
              <a:t>ROADMAP</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200" b="1">
                <a:solidFill>
                  <a:srgbClr val="1B4332"/>
                </a:solidFill>
                <a:latin typeface="Segoe UI"/>
              </a:defRPr>
            </a:pPr>
            <a:r>
              <a:t>Future Work &amp; End-Sem Plan</a:t>
            </a:r>
          </a:p>
        </p:txBody>
      </p:sp>
      <p:sp>
        <p:nvSpPr>
          <p:cNvPr id="4" name="Rectangle 3"/>
          <p:cNvSpPr/>
          <p:nvPr/>
        </p:nvSpPr>
        <p:spPr>
          <a:xfrm>
            <a:off x="731520" y="1188720"/>
            <a:ext cx="10058400" cy="13716"/>
          </a:xfrm>
          <a:prstGeom prst="rect">
            <a:avLst/>
          </a:prstGeom>
          <a:solidFill>
            <a:srgbClr val="D1E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it_logo.png"/>
          <p:cNvPicPr>
            <a:picLocks noChangeAspect="1"/>
          </p:cNvPicPr>
          <p:nvPr/>
        </p:nvPicPr>
        <p:blipFill>
          <a:blip r:embed="rId2"/>
          <a:stretch>
            <a:fillRect/>
          </a:stretch>
        </p:blipFill>
        <p:spPr>
          <a:xfrm>
            <a:off x="11064240" y="320040"/>
            <a:ext cx="594360" cy="826305"/>
          </a:xfrm>
          <a:prstGeom prst="rect">
            <a:avLst/>
          </a:prstGeom>
        </p:spPr>
      </p:pic>
      <p:sp>
        <p:nvSpPr>
          <p:cNvPr id="6" name="Rounded Rectangle 5"/>
          <p:cNvSpPr/>
          <p:nvPr/>
        </p:nvSpPr>
        <p:spPr>
          <a:xfrm>
            <a:off x="731520" y="1371600"/>
            <a:ext cx="5212080" cy="338328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846320" cy="3108960"/>
          </a:xfrm>
          <a:prstGeom prst="rect">
            <a:avLst/>
          </a:prstGeom>
          <a:noFill/>
        </p:spPr>
        <p:txBody>
          <a:bodyPr wrap="square">
            <a:spAutoFit/>
          </a:bodyPr>
          <a:lstStyle/>
          <a:p>
            <a:pPr>
              <a:defRPr sz="1200" b="1">
                <a:solidFill>
                  <a:srgbClr val="1B4332"/>
                </a:solidFill>
              </a:defRPr>
            </a:pPr>
            <a:r>
              <a:t>PLANNED TECHNICAL IMPROVEMENTS (1 – 5)</a:t>
            </a:r>
          </a:p>
          <a:p>
            <a:pPr>
              <a:spcBef>
                <a:spcPts val="400"/>
              </a:spcBef>
            </a:pPr>
            <a:r>
              <a:rPr b="1" sz="1050">
                <a:solidFill>
                  <a:srgbClr val="1E293B"/>
                </a:solidFill>
              </a:rPr>
              <a:t>1. Disease Model Robustness: </a:t>
            </a:r>
            <a:r>
              <a:rPr sz="1000">
                <a:solidFill>
                  <a:srgbClr val="475569"/>
                </a:solidFill>
              </a:rPr>
              <a:t>Train with synthetic augmentations (motion blur, contrast jitter, shadow effects) to mimic field conditions.</a:t>
            </a:r>
          </a:p>
          <a:p>
            <a:pPr>
              <a:spcBef>
                <a:spcPts val="400"/>
              </a:spcBef>
            </a:pPr>
            <a:r>
              <a:rPr b="1" sz="1050">
                <a:solidFill>
                  <a:srgbClr val="1E293B"/>
                </a:solidFill>
              </a:rPr>
              <a:t>2. Real-World Field Images: </a:t>
            </a:r>
            <a:r>
              <a:rPr sz="1000">
                <a:solidFill>
                  <a:srgbClr val="475569"/>
                </a:solidFill>
              </a:rPr>
              <a:t>Incorporate diverse in-field photographs taken in varied sunlight and crop growth stages.</a:t>
            </a:r>
          </a:p>
          <a:p>
            <a:pPr>
              <a:spcBef>
                <a:spcPts val="400"/>
              </a:spcBef>
            </a:pPr>
            <a:r>
              <a:rPr b="1" sz="1050">
                <a:solidFill>
                  <a:srgbClr val="1E293B"/>
                </a:solidFill>
              </a:rPr>
              <a:t>3. Unknown-Image Detection: </a:t>
            </a:r>
            <a:r>
              <a:rPr sz="1000">
                <a:solidFill>
                  <a:srgbClr val="475569"/>
                </a:solidFill>
              </a:rPr>
              <a:t>Implement an out-of-distribution (OOD) filter to reject non-leaf or irrelevant images safely.</a:t>
            </a:r>
          </a:p>
          <a:p>
            <a:pPr>
              <a:spcBef>
                <a:spcPts val="400"/>
              </a:spcBef>
            </a:pPr>
            <a:r>
              <a:rPr b="1" sz="1050">
                <a:solidFill>
                  <a:srgbClr val="1E293B"/>
                </a:solidFill>
              </a:rPr>
              <a:t>4. Unsupported-Crop Handling: </a:t>
            </a:r>
            <a:r>
              <a:rPr sz="1000">
                <a:solidFill>
                  <a:srgbClr val="475569"/>
                </a:solidFill>
              </a:rPr>
              <a:t>Add an upfront crop-type verifier to warn farmers when an unrepresented plant species is uploaded.</a:t>
            </a:r>
          </a:p>
          <a:p>
            <a:pPr>
              <a:spcBef>
                <a:spcPts val="400"/>
              </a:spcBef>
            </a:pPr>
            <a:r>
              <a:rPr b="1" sz="1050">
                <a:solidFill>
                  <a:srgbClr val="1E293B"/>
                </a:solidFill>
              </a:rPr>
              <a:t>5. Soil-Report OCR Pipeline: </a:t>
            </a:r>
            <a:r>
              <a:rPr sz="1000">
                <a:solidFill>
                  <a:srgbClr val="475569"/>
                </a:solidFill>
              </a:rPr>
              <a:t>Integrate an optical character recognition module to read printed Soil Health Cards automatically.</a:t>
            </a:r>
          </a:p>
        </p:txBody>
      </p:sp>
      <p:sp>
        <p:nvSpPr>
          <p:cNvPr id="8" name="Rounded Rectangle 7"/>
          <p:cNvSpPr/>
          <p:nvPr/>
        </p:nvSpPr>
        <p:spPr>
          <a:xfrm>
            <a:off x="6217920" y="1371600"/>
            <a:ext cx="5212080" cy="3383280"/>
          </a:xfrm>
          <a:prstGeom prst="roundRect">
            <a:avLst/>
          </a:prstGeom>
          <a:solidFill>
            <a:srgbClr val="F4F7F4"/>
          </a:solidFill>
          <a:ln w="12700">
            <a:solidFill>
              <a:srgbClr val="D1E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08760"/>
            <a:ext cx="4846320" cy="3108960"/>
          </a:xfrm>
          <a:prstGeom prst="rect">
            <a:avLst/>
          </a:prstGeom>
          <a:noFill/>
        </p:spPr>
        <p:txBody>
          <a:bodyPr wrap="square">
            <a:spAutoFit/>
          </a:bodyPr>
          <a:lstStyle/>
          <a:p>
            <a:pPr>
              <a:defRPr sz="1200" b="1">
                <a:solidFill>
                  <a:srgbClr val="1B4332"/>
                </a:solidFill>
              </a:defRPr>
            </a:pPr>
            <a:r>
              <a:t>PLANNED APPLICATION IMPROVEMENTS (6 – 10)</a:t>
            </a:r>
          </a:p>
          <a:p>
            <a:pPr>
              <a:spcBef>
                <a:spcPts val="400"/>
              </a:spcBef>
            </a:pPr>
            <a:r>
              <a:rPr b="1" sz="1050">
                <a:solidFill>
                  <a:srgbClr val="1E293B"/>
                </a:solidFill>
              </a:rPr>
              <a:t>6. Agricultural Knowledge Base: </a:t>
            </a:r>
            <a:r>
              <a:rPr sz="1000">
                <a:solidFill>
                  <a:srgbClr val="475569"/>
                </a:solidFill>
              </a:rPr>
              <a:t>Expand the advisory rule base to cover regional crop calendars and state agricultural university guides.</a:t>
            </a:r>
          </a:p>
          <a:p>
            <a:pPr>
              <a:spcBef>
                <a:spcPts val="400"/>
              </a:spcBef>
            </a:pPr>
            <a:r>
              <a:rPr b="1" sz="1050">
                <a:solidFill>
                  <a:srgbClr val="1E293B"/>
                </a:solidFill>
              </a:rPr>
              <a:t>7. Multilingual Assistant Enhancement: </a:t>
            </a:r>
            <a:r>
              <a:rPr sz="1000">
                <a:solidFill>
                  <a:srgbClr val="475569"/>
                </a:solidFill>
              </a:rPr>
              <a:t>Improve conversational natural language responses in Marathi and Hindi.</a:t>
            </a:r>
          </a:p>
          <a:p>
            <a:pPr>
              <a:spcBef>
                <a:spcPts val="400"/>
              </a:spcBef>
            </a:pPr>
            <a:r>
              <a:rPr b="1" sz="1050">
                <a:solidFill>
                  <a:srgbClr val="1E293B"/>
                </a:solidFill>
              </a:rPr>
              <a:t>8. Farmer-Friendly Input Collection: </a:t>
            </a:r>
            <a:r>
              <a:rPr sz="1000">
                <a:solidFill>
                  <a:srgbClr val="475569"/>
                </a:solidFill>
              </a:rPr>
              <a:t>Simplify the web input workflow with regional soil type presets when exact N-P-K is missing.</a:t>
            </a:r>
          </a:p>
          <a:p>
            <a:pPr>
              <a:spcBef>
                <a:spcPts val="400"/>
              </a:spcBef>
            </a:pPr>
            <a:r>
              <a:rPr b="1" sz="1050">
                <a:solidFill>
                  <a:srgbClr val="1E293B"/>
                </a:solidFill>
              </a:rPr>
              <a:t>9. Real-World Field Usability Testing: </a:t>
            </a:r>
            <a:r>
              <a:rPr sz="1000">
                <a:solidFill>
                  <a:srgbClr val="475569"/>
                </a:solidFill>
              </a:rPr>
              <a:t>Conduct usability trials with local farming samples in Maharashtra to assess latency and clarity.</a:t>
            </a:r>
          </a:p>
          <a:p>
            <a:pPr>
              <a:spcBef>
                <a:spcPts val="400"/>
              </a:spcBef>
            </a:pPr>
            <a:r>
              <a:rPr b="1" sz="1050">
                <a:solidFill>
                  <a:srgbClr val="1E293B"/>
                </a:solidFill>
              </a:rPr>
              <a:t>10. Mid vs. End-Sem ML Benchmark: </a:t>
            </a:r>
            <a:r>
              <a:rPr sz="1000">
                <a:solidFill>
                  <a:srgbClr val="475569"/>
                </a:solidFill>
              </a:rPr>
              <a:t>Conduct rigorous comparative evaluation showing quantitative performance improvements at final submission.</a:t>
            </a:r>
          </a:p>
        </p:txBody>
      </p:sp>
      <p:sp>
        <p:nvSpPr>
          <p:cNvPr id="10" name="Rounded Rectangle 9"/>
          <p:cNvSpPr/>
          <p:nvPr/>
        </p:nvSpPr>
        <p:spPr>
          <a:xfrm>
            <a:off x="731520" y="4892040"/>
            <a:ext cx="10698480" cy="1280160"/>
          </a:xfrm>
          <a:prstGeom prst="roundRect">
            <a:avLst/>
          </a:prstGeom>
          <a:solidFill>
            <a:srgbClr val="EAF5EE"/>
          </a:solidFill>
          <a:ln w="19050">
            <a:solidFill>
              <a:srgbClr val="409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B4332"/>
                </a:solidFill>
              </a:defRPr>
            </a:pPr>
            <a:r>
              <a:t>MID-SEM STATUS:</a:t>
            </a:r>
          </a:p>
          <a:p>
            <a:pPr>
              <a:spcBef>
                <a:spcPts val="200"/>
              </a:spcBef>
              <a:defRPr sz="1150" b="1">
                <a:solidFill>
                  <a:srgbClr val="1E293B"/>
                </a:solidFill>
              </a:defRPr>
            </a:pPr>
            <a:r>
              <a:t>"Core ML pipeline and application integration implemented; further validation, robustness and usability improvements are planned for the end-semester version."</a:t>
            </a:r>
          </a:p>
          <a:p>
            <a:pPr algn="ctr">
              <a:spcBef>
                <a:spcPts val="400"/>
              </a:spcBef>
              <a:defRPr sz="1100" b="1">
                <a:solidFill>
                  <a:srgbClr val="2D6A4F"/>
                </a:solidFill>
              </a:defRPr>
            </a:pPr>
            <a:r>
              <a:t>Thank You!  ·  Questions &amp; Discussion  ·  Group 13 (TY_C)  ·  VIT Pune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